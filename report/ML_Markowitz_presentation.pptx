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f3f42733-604d-3dc9-6955-edd92fbde646}">
          <p14:sldIdLst>
            <p14:sldId id="256"/>
          </p14:sldIdLst>
        </p14:section>
        <p14:section name="Problem" id="{7f94e605-d36b-146c-4592-d0352d881994}">
          <p14:sldIdLst>
            <p14:sldId id="257"/>
          </p14:sldIdLst>
        </p14:section>
        <p14:section name="Methodology" id="{a26d28d3-86f9-c9d2-3c2e-742b70aa49c7}">
          <p14:sldIdLst>
            <p14:sldId id="258"/>
            <p14:sldId id="259"/>
          </p14:sldIdLst>
        </p14:section>
        <p14:section name="Extensions" id="{c653a87d-25a8-a5bc-120e-6b3d99658bdb}">
          <p14:sldIdLst>
            <p14:sldId id="260"/>
            <p14:sldId id="261"/>
          </p14:sldIdLst>
        </p14:section>
        <p14:section name="Results" id="{c200a710-6cfc-ec8e-a964-f606b600a4db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A44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2A44"/>
                </a:solidFill>
                <a:latin typeface="+mn-lt"/>
              </a:rPr>
              <a:t>Long-only top decile: Sharpe ratio, before costs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Two-stage (MSE)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2514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PCA20-Linear, DA μ=1</c:v>
                  </c:pt>
                  <c:pt idx="1">
                    <c:v>PCA20-Linear, DA μ=0.1</c:v>
                  </c:pt>
                  <c:pt idx="2">
                    <c:v>PCA20-NN3, DA μ=1</c:v>
                  </c:pt>
                  <c:pt idx="3">
                    <c:v>PCA20-NN3, DA μ=0.1</c:v>
                  </c:pt>
                  <c:pt idx="4">
                    <c:v>PCA20-NN3, PCA fixed</c:v>
                  </c:pt>
                  <c:pt idx="5">
                    <c:v>GMM experts</c:v>
                  </c:pt>
                  <c:pt idx="6">
                    <c:v>Ridge</c:v>
                  </c:pt>
                  <c:pt idx="7">
                    <c:v>NN3</c:v>
                  </c:pt>
                  <c:pt idx="8">
                    <c:v>Linear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1.24</c:v>
                </c:pt>
                <c:pt idx="3">
                  <c:v>1.24</c:v>
                </c:pt>
                <c:pt idx="4">
                  <c:v>1.24</c:v>
                </c:pt>
                <c:pt idx="5">
                  <c:v>1.27</c:v>
                </c:pt>
                <c:pt idx="6">
                  <c:v>1.23</c:v>
                </c:pt>
                <c:pt idx="7">
                  <c:v>1.23</c:v>
                </c:pt>
                <c:pt idx="8">
                  <c:v>1.36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End-to-end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2514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PCA20-Linear, DA μ=1</c:v>
                  </c:pt>
                  <c:pt idx="1">
                    <c:v>PCA20-Linear, DA μ=0.1</c:v>
                  </c:pt>
                  <c:pt idx="2">
                    <c:v>PCA20-NN3, DA μ=1</c:v>
                  </c:pt>
                  <c:pt idx="3">
                    <c:v>PCA20-NN3, DA μ=0.1</c:v>
                  </c:pt>
                  <c:pt idx="4">
                    <c:v>PCA20-NN3, PCA fixed</c:v>
                  </c:pt>
                  <c:pt idx="5">
                    <c:v>GMM experts</c:v>
                  </c:pt>
                  <c:pt idx="6">
                    <c:v>Ridge</c:v>
                  </c:pt>
                  <c:pt idx="7">
                    <c:v>NN3</c:v>
                  </c:pt>
                  <c:pt idx="8">
                    <c:v>Linear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1.29</c:v>
                </c:pt>
                <c:pt idx="1">
                  <c:v>1.36</c:v>
                </c:pt>
                <c:pt idx="2">
                  <c:v>1.23</c:v>
                </c:pt>
                <c:pt idx="3">
                  <c:v>1.32</c:v>
                </c:pt>
                <c:pt idx="4">
                  <c:v>1.3</c:v>
                </c:pt>
                <c:pt idx="5">
                  <c:v>1.19</c:v>
                </c:pt>
                <c:pt idx="6">
                  <c:v>1.36</c:v>
                </c:pt>
                <c:pt idx="7">
                  <c:v>1.35</c:v>
                </c:pt>
                <c:pt idx="8">
                  <c:v>1.37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52514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2514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paper asks whether a return forecaster should be trained for statistical accuracy or for the portfolio it feeds. We replicate it on free China A-share data, audit it, and extend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Two-stage learning fits returns for all stocks equally. E2E puts the optimizer in the loop. The paper's four-asset example, which we reproduced exactly, shows the best statistical fit is best for neither investor.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bilevel problem: the inner problem chooses weights from forecasts, the outer problem chooses network parameters for realized performance. Our layer solves the inner problem exactly and gives its Jacobian in closed 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stage uses a specific learning choice. Cards 1 to 5 follow the paper; card 6 lists our additions.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recomputed the paper's tables. Three numbers do not reconcile, several conventions are implied but unstated, and we adopt explicit fixes for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Dimension reduction sits between the features and the model. We compare reduction chosen by variance (PCA), by class separation (LDA) and by the portfolio objective (decision-aware PCA).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E2E model is compared with the two-stage model it starts from, on the same test days, before costs. Differences are tested with Newey-West errors. Costs: NN3 trained with 20 bps costs against the MSE top decile and the validation-tuned MSE-Opt. Mean-SD: eta = 1, before costs.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7665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83280"/>
            <a:ext cx="64008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ADCFC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</a:rPr>
              <a:t>Machine Learning Meets Markowitz: replication and extension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766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Learning for the Decision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8328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Replicating and extending end-to-end Markowitz learning on China A-shares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9FB3D9"/>
                </a:solidFill>
              </a:rPr>
              <a:t>Based on Wang, Gao, Harvey, Liu &amp; Tao (2026), Machine Learning Meets Markowitz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9FB3D9"/>
                </a:solidFill>
              </a:rPr>
              <a:t>Kumar Utkarsh  ·  IIT Guwahati  ·  October 2026</a:t>
            </a:r>
            <a:endParaRPr lang="en-US" sz="1800" dirty="0"/>
          </a:p>
        </p:txBody>
      </p:sp>
      <p:sp>
        <p:nvSpPr>
          <p:cNvPr id="4" name="motif-Predict"/>
          <p:cNvSpPr/>
          <p:nvPr/>
        </p:nvSpPr>
        <p:spPr>
          <a:xfrm>
            <a:off x="8183880" y="2788920"/>
            <a:ext cx="868680" cy="868680"/>
          </a:xfrm>
          <a:prstGeom prst="ellipse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83880" y="27889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909560" y="37947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Predict</a:t>
            </a:r>
            <a:endParaRPr lang="en-US" sz="1400" dirty="0"/>
          </a:p>
        </p:txBody>
      </p:sp>
      <p:sp>
        <p:nvSpPr>
          <p:cNvPr id="7" name="motif-arrow-0"/>
          <p:cNvSpPr/>
          <p:nvPr/>
        </p:nvSpPr>
        <p:spPr>
          <a:xfrm>
            <a:off x="9098280" y="3218688"/>
            <a:ext cx="274320" cy="914"/>
          </a:xfrm>
          <a:prstGeom prst="line">
            <a:avLst/>
          </a:prstGeom>
          <a:noFill/>
          <a:ln w="22225">
            <a:solidFill>
              <a:srgbClr val="9FB3D9"/>
            </a:solidFill>
            <a:prstDash val="solid"/>
            <a:tailEnd type="triangle"/>
          </a:ln>
        </p:spPr>
      </p:sp>
      <p:sp>
        <p:nvSpPr>
          <p:cNvPr id="8" name="motif-Optimize"/>
          <p:cNvSpPr/>
          <p:nvPr/>
        </p:nvSpPr>
        <p:spPr>
          <a:xfrm>
            <a:off x="9418320" y="2788920"/>
            <a:ext cx="868680" cy="86868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418320" y="27889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9144000" y="37947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Optimize</a:t>
            </a:r>
            <a:endParaRPr lang="en-US" sz="1400" dirty="0"/>
          </a:p>
        </p:txBody>
      </p:sp>
      <p:sp>
        <p:nvSpPr>
          <p:cNvPr id="11" name="motif-arrow-1"/>
          <p:cNvSpPr/>
          <p:nvPr/>
        </p:nvSpPr>
        <p:spPr>
          <a:xfrm>
            <a:off x="10332720" y="3218688"/>
            <a:ext cx="274320" cy="914"/>
          </a:xfrm>
          <a:prstGeom prst="line">
            <a:avLst/>
          </a:prstGeom>
          <a:noFill/>
          <a:ln w="22225">
            <a:solidFill>
              <a:srgbClr val="9FB3D9"/>
            </a:solidFill>
            <a:prstDash val="solid"/>
            <a:tailEnd type="triangle"/>
          </a:ln>
        </p:spPr>
      </p:sp>
      <p:sp>
        <p:nvSpPr>
          <p:cNvPr id="12" name="motif-Decide"/>
          <p:cNvSpPr/>
          <p:nvPr/>
        </p:nvSpPr>
        <p:spPr>
          <a:xfrm>
            <a:off x="10652760" y="2788920"/>
            <a:ext cx="868680" cy="86868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652760" y="27889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378440" y="37947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Decide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818120" y="43434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</a:rPr>
              <a:t>Train the forecaster on the portfolio it produces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Why predict-then-optimize falls short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Two-stage (the benchmark)</a:t>
            </a:r>
            <a:endParaRPr lang="en-US" sz="1500" dirty="0"/>
          </a:p>
        </p:txBody>
      </p:sp>
      <p:sp>
        <p:nvSpPr>
          <p:cNvPr id="4" name="Two-stage (the benchmark)-Characteristics"/>
          <p:cNvSpPr/>
          <p:nvPr/>
        </p:nvSpPr>
        <p:spPr>
          <a:xfrm>
            <a:off x="548640" y="1783080"/>
            <a:ext cx="1060704" cy="566928"/>
          </a:xfrm>
          <a:prstGeom prst="roundRect">
            <a:avLst>
              <a:gd name="adj" fmla="val 96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1060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Characteristics</a:t>
            </a:r>
            <a:endParaRPr lang="en-US" sz="1200" dirty="0"/>
          </a:p>
        </p:txBody>
      </p:sp>
      <p:sp>
        <p:nvSpPr>
          <p:cNvPr id="6" name="Two-stage (the benchmark)-a0"/>
          <p:cNvSpPr/>
          <p:nvPr/>
        </p:nvSpPr>
        <p:spPr>
          <a:xfrm>
            <a:off x="1627632" y="2066544"/>
            <a:ext cx="128016" cy="914"/>
          </a:xfrm>
          <a:prstGeom prst="line">
            <a:avLst/>
          </a:prstGeom>
          <a:noFill/>
          <a:ln w="22225">
            <a:solidFill>
              <a:srgbClr val="1F2A44"/>
            </a:solidFill>
            <a:prstDash val="solid"/>
            <a:tailEnd type="triangle"/>
          </a:ln>
        </p:spPr>
      </p:sp>
      <p:sp>
        <p:nvSpPr>
          <p:cNvPr id="7" name="Two-stage (the benchmark)-Model g(x; θ)"/>
          <p:cNvSpPr/>
          <p:nvPr/>
        </p:nvSpPr>
        <p:spPr>
          <a:xfrm>
            <a:off x="1773936" y="1783080"/>
            <a:ext cx="1060704" cy="566928"/>
          </a:xfrm>
          <a:prstGeom prst="roundRect">
            <a:avLst>
              <a:gd name="adj" fmla="val 96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73936" y="1783080"/>
            <a:ext cx="1060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Model g(x; θ)</a:t>
            </a:r>
            <a:endParaRPr lang="en-US" sz="1200" dirty="0"/>
          </a:p>
        </p:txBody>
      </p:sp>
      <p:sp>
        <p:nvSpPr>
          <p:cNvPr id="9" name="Two-stage (the benchmark)-a1"/>
          <p:cNvSpPr/>
          <p:nvPr/>
        </p:nvSpPr>
        <p:spPr>
          <a:xfrm>
            <a:off x="2852928" y="2066544"/>
            <a:ext cx="128016" cy="914"/>
          </a:xfrm>
          <a:prstGeom prst="line">
            <a:avLst/>
          </a:prstGeom>
          <a:noFill/>
          <a:ln w="22225">
            <a:solidFill>
              <a:srgbClr val="1F2A44"/>
            </a:solidFill>
            <a:prstDash val="solid"/>
            <a:tailEnd type="triangle"/>
          </a:ln>
        </p:spPr>
      </p:sp>
      <p:sp>
        <p:nvSpPr>
          <p:cNvPr id="10" name="Two-stage (the benchmark)-Forecast r̂"/>
          <p:cNvSpPr/>
          <p:nvPr/>
        </p:nvSpPr>
        <p:spPr>
          <a:xfrm>
            <a:off x="2999232" y="1783080"/>
            <a:ext cx="1060704" cy="566928"/>
          </a:xfrm>
          <a:prstGeom prst="roundRect">
            <a:avLst>
              <a:gd name="adj" fmla="val 96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99232" y="1783080"/>
            <a:ext cx="1060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Forecast r̂</a:t>
            </a:r>
            <a:endParaRPr lang="en-US" sz="1200" dirty="0"/>
          </a:p>
        </p:txBody>
      </p:sp>
      <p:sp>
        <p:nvSpPr>
          <p:cNvPr id="12" name="Two-stage (the benchmark)-a2"/>
          <p:cNvSpPr/>
          <p:nvPr/>
        </p:nvSpPr>
        <p:spPr>
          <a:xfrm>
            <a:off x="4078224" y="2066544"/>
            <a:ext cx="128016" cy="914"/>
          </a:xfrm>
          <a:prstGeom prst="line">
            <a:avLst/>
          </a:prstGeom>
          <a:noFill/>
          <a:ln w="22225">
            <a:solidFill>
              <a:srgbClr val="1F2A44"/>
            </a:solidFill>
            <a:prstDash val="solid"/>
            <a:tailEnd type="triangle"/>
          </a:ln>
        </p:spPr>
      </p:sp>
      <p:sp>
        <p:nvSpPr>
          <p:cNvPr id="13" name="Two-stage (the benchmark)-Optimizer"/>
          <p:cNvSpPr/>
          <p:nvPr/>
        </p:nvSpPr>
        <p:spPr>
          <a:xfrm>
            <a:off x="4224528" y="1783080"/>
            <a:ext cx="1060704" cy="566928"/>
          </a:xfrm>
          <a:prstGeom prst="roundRect">
            <a:avLst>
              <a:gd name="adj" fmla="val 96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224528" y="1783080"/>
            <a:ext cx="1060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Optimizer</a:t>
            </a:r>
            <a:endParaRPr lang="en-US" sz="1200" dirty="0"/>
          </a:p>
        </p:txBody>
      </p:sp>
      <p:sp>
        <p:nvSpPr>
          <p:cNvPr id="15" name="Two-stage (the benchmark)-a3"/>
          <p:cNvSpPr/>
          <p:nvPr/>
        </p:nvSpPr>
        <p:spPr>
          <a:xfrm>
            <a:off x="5303520" y="2066544"/>
            <a:ext cx="128016" cy="914"/>
          </a:xfrm>
          <a:prstGeom prst="line">
            <a:avLst/>
          </a:prstGeom>
          <a:noFill/>
          <a:ln w="22225">
            <a:solidFill>
              <a:srgbClr val="1F2A44"/>
            </a:solidFill>
            <a:prstDash val="solid"/>
            <a:tailEnd type="triangle"/>
          </a:ln>
        </p:spPr>
      </p:sp>
      <p:sp>
        <p:nvSpPr>
          <p:cNvPr id="16" name="Two-stage (the benchmark)-Portfolio w"/>
          <p:cNvSpPr/>
          <p:nvPr/>
        </p:nvSpPr>
        <p:spPr>
          <a:xfrm>
            <a:off x="5449824" y="1783080"/>
            <a:ext cx="1060704" cy="566928"/>
          </a:xfrm>
          <a:prstGeom prst="roundRect">
            <a:avLst>
              <a:gd name="adj" fmla="val 96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49824" y="1783080"/>
            <a:ext cx="1060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Portfolio w</a:t>
            </a:r>
            <a:endParaRPr lang="en-US" sz="1200" dirty="0"/>
          </a:p>
        </p:txBody>
      </p:sp>
      <p:sp>
        <p:nvSpPr>
          <p:cNvPr id="18" name="Two-stage (the benchmark)-loss"/>
          <p:cNvSpPr/>
          <p:nvPr/>
        </p:nvSpPr>
        <p:spPr>
          <a:xfrm>
            <a:off x="1115568" y="260604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15568" y="2606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Loss: MSE, every stock equal</a:t>
            </a:r>
            <a:endParaRPr lang="en-US" sz="1200" dirty="0"/>
          </a:p>
        </p:txBody>
      </p:sp>
      <p:sp>
        <p:nvSpPr>
          <p:cNvPr id="20" name="ts-feedback"/>
          <p:cNvSpPr/>
          <p:nvPr/>
        </p:nvSpPr>
        <p:spPr>
          <a:xfrm flipV="1">
            <a:off x="2304288" y="2368296"/>
            <a:ext cx="914" cy="237744"/>
          </a:xfrm>
          <a:prstGeom prst="line">
            <a:avLst/>
          </a:prstGeom>
          <a:noFill/>
          <a:ln w="22225">
            <a:solidFill>
              <a:srgbClr val="0E5E6F"/>
            </a:solidFill>
            <a:prstDash val="dash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48640" y="34290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End-to-end (the paper)</a:t>
            </a:r>
            <a:endParaRPr lang="en-US" sz="1500" dirty="0"/>
          </a:p>
        </p:txBody>
      </p:sp>
      <p:sp>
        <p:nvSpPr>
          <p:cNvPr id="22" name="End-to-end (the paper)-Characteristics"/>
          <p:cNvSpPr/>
          <p:nvPr/>
        </p:nvSpPr>
        <p:spPr>
          <a:xfrm>
            <a:off x="548640" y="3840480"/>
            <a:ext cx="1060704" cy="566928"/>
          </a:xfrm>
          <a:prstGeom prst="roundRect">
            <a:avLst>
              <a:gd name="adj" fmla="val 96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840480"/>
            <a:ext cx="1060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Characteristics</a:t>
            </a:r>
            <a:endParaRPr lang="en-US" sz="1200" dirty="0"/>
          </a:p>
        </p:txBody>
      </p:sp>
      <p:sp>
        <p:nvSpPr>
          <p:cNvPr id="24" name="End-to-end (the paper)-a0"/>
          <p:cNvSpPr/>
          <p:nvPr/>
        </p:nvSpPr>
        <p:spPr>
          <a:xfrm>
            <a:off x="1627632" y="4123944"/>
            <a:ext cx="128016" cy="914"/>
          </a:xfrm>
          <a:prstGeom prst="line">
            <a:avLst/>
          </a:prstGeom>
          <a:noFill/>
          <a:ln w="22225">
            <a:solidFill>
              <a:srgbClr val="1F2A44"/>
            </a:solidFill>
            <a:prstDash val="solid"/>
            <a:tailEnd type="triangle"/>
          </a:ln>
        </p:spPr>
      </p:sp>
      <p:sp>
        <p:nvSpPr>
          <p:cNvPr id="25" name="End-to-end (the paper)-Model g(x; θ)"/>
          <p:cNvSpPr/>
          <p:nvPr/>
        </p:nvSpPr>
        <p:spPr>
          <a:xfrm>
            <a:off x="1773936" y="3840480"/>
            <a:ext cx="1060704" cy="566928"/>
          </a:xfrm>
          <a:prstGeom prst="roundRect">
            <a:avLst>
              <a:gd name="adj" fmla="val 96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773936" y="3840480"/>
            <a:ext cx="1060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Model g(x; θ)</a:t>
            </a:r>
            <a:endParaRPr lang="en-US" sz="1200" dirty="0"/>
          </a:p>
        </p:txBody>
      </p:sp>
      <p:sp>
        <p:nvSpPr>
          <p:cNvPr id="27" name="End-to-end (the paper)-a1"/>
          <p:cNvSpPr/>
          <p:nvPr/>
        </p:nvSpPr>
        <p:spPr>
          <a:xfrm>
            <a:off x="2852928" y="4123944"/>
            <a:ext cx="128016" cy="914"/>
          </a:xfrm>
          <a:prstGeom prst="line">
            <a:avLst/>
          </a:prstGeom>
          <a:noFill/>
          <a:ln w="22225">
            <a:solidFill>
              <a:srgbClr val="1F2A44"/>
            </a:solidFill>
            <a:prstDash val="solid"/>
            <a:tailEnd type="triangle"/>
          </a:ln>
        </p:spPr>
      </p:sp>
      <p:sp>
        <p:nvSpPr>
          <p:cNvPr id="28" name="End-to-end (the paper)-Forecast r̂"/>
          <p:cNvSpPr/>
          <p:nvPr/>
        </p:nvSpPr>
        <p:spPr>
          <a:xfrm>
            <a:off x="2999232" y="3840480"/>
            <a:ext cx="1060704" cy="566928"/>
          </a:xfrm>
          <a:prstGeom prst="roundRect">
            <a:avLst>
              <a:gd name="adj" fmla="val 96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99232" y="3840480"/>
            <a:ext cx="1060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Forecast r̂</a:t>
            </a:r>
            <a:endParaRPr lang="en-US" sz="1200" dirty="0"/>
          </a:p>
        </p:txBody>
      </p:sp>
      <p:sp>
        <p:nvSpPr>
          <p:cNvPr id="30" name="End-to-end (the paper)-a2"/>
          <p:cNvSpPr/>
          <p:nvPr/>
        </p:nvSpPr>
        <p:spPr>
          <a:xfrm>
            <a:off x="4078224" y="4123944"/>
            <a:ext cx="128016" cy="914"/>
          </a:xfrm>
          <a:prstGeom prst="line">
            <a:avLst/>
          </a:prstGeom>
          <a:noFill/>
          <a:ln w="22225">
            <a:solidFill>
              <a:srgbClr val="1F2A44"/>
            </a:solidFill>
            <a:prstDash val="solid"/>
            <a:tailEnd type="triangle"/>
          </a:ln>
        </p:spPr>
      </p:sp>
      <p:sp>
        <p:nvSpPr>
          <p:cNvPr id="31" name="End-to-end (the paper)-Optimizer"/>
          <p:cNvSpPr/>
          <p:nvPr/>
        </p:nvSpPr>
        <p:spPr>
          <a:xfrm>
            <a:off x="4224528" y="3840480"/>
            <a:ext cx="1060704" cy="566928"/>
          </a:xfrm>
          <a:prstGeom prst="roundRect">
            <a:avLst>
              <a:gd name="adj" fmla="val 9677"/>
            </a:avLst>
          </a:prstGeom>
          <a:solidFill>
            <a:srgbClr val="FCEBE3"/>
          </a:solidFill>
          <a:ln w="12700">
            <a:solidFill>
              <a:srgbClr val="FCEBE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224528" y="3840480"/>
            <a:ext cx="1060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Optimizer</a:t>
            </a:r>
            <a:endParaRPr lang="en-US" sz="1200" dirty="0"/>
          </a:p>
        </p:txBody>
      </p:sp>
      <p:sp>
        <p:nvSpPr>
          <p:cNvPr id="33" name="End-to-end (the paper)-a3"/>
          <p:cNvSpPr/>
          <p:nvPr/>
        </p:nvSpPr>
        <p:spPr>
          <a:xfrm>
            <a:off x="5303520" y="4123944"/>
            <a:ext cx="128016" cy="914"/>
          </a:xfrm>
          <a:prstGeom prst="line">
            <a:avLst/>
          </a:prstGeom>
          <a:noFill/>
          <a:ln w="22225">
            <a:solidFill>
              <a:srgbClr val="1F2A44"/>
            </a:solidFill>
            <a:prstDash val="solid"/>
            <a:tailEnd type="triangle"/>
          </a:ln>
        </p:spPr>
      </p:sp>
      <p:sp>
        <p:nvSpPr>
          <p:cNvPr id="34" name="End-to-end (the paper)-Portfolio w"/>
          <p:cNvSpPr/>
          <p:nvPr/>
        </p:nvSpPr>
        <p:spPr>
          <a:xfrm>
            <a:off x="5449824" y="3840480"/>
            <a:ext cx="1060704" cy="566928"/>
          </a:xfrm>
          <a:prstGeom prst="roundRect">
            <a:avLst>
              <a:gd name="adj" fmla="val 96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49824" y="3840480"/>
            <a:ext cx="1060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Portfolio w</a:t>
            </a:r>
            <a:endParaRPr lang="en-US" sz="1200" dirty="0"/>
          </a:p>
        </p:txBody>
      </p:sp>
      <p:sp>
        <p:nvSpPr>
          <p:cNvPr id="36" name="End-to-end (the paper)-loss"/>
          <p:cNvSpPr/>
          <p:nvPr/>
        </p:nvSpPr>
        <p:spPr>
          <a:xfrm>
            <a:off x="4133088" y="466344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133088" y="46634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Loss: realized portfolio return</a:t>
            </a:r>
            <a:endParaRPr lang="en-US" sz="1200" dirty="0"/>
          </a:p>
        </p:txBody>
      </p:sp>
      <p:sp>
        <p:nvSpPr>
          <p:cNvPr id="38" name="e2e-up"/>
          <p:cNvSpPr/>
          <p:nvPr/>
        </p:nvSpPr>
        <p:spPr>
          <a:xfrm flipV="1">
            <a:off x="5980176" y="4425696"/>
            <a:ext cx="914" cy="237744"/>
          </a:xfrm>
          <a:prstGeom prst="line">
            <a:avLst/>
          </a:prstGeom>
          <a:noFill/>
          <a:ln w="22225">
            <a:solidFill>
              <a:srgbClr val="EB6834"/>
            </a:solidFill>
            <a:prstDash val="dash"/>
            <a:tailEnd type="triangle"/>
          </a:ln>
        </p:spPr>
      </p:sp>
      <p:sp>
        <p:nvSpPr>
          <p:cNvPr id="39" name="e2e-back"/>
          <p:cNvSpPr/>
          <p:nvPr/>
        </p:nvSpPr>
        <p:spPr>
          <a:xfrm flipH="1">
            <a:off x="2304288" y="4910328"/>
            <a:ext cx="1828800" cy="914"/>
          </a:xfrm>
          <a:prstGeom prst="line">
            <a:avLst/>
          </a:prstGeom>
          <a:noFill/>
          <a:ln w="22225">
            <a:solidFill>
              <a:srgbClr val="EB6834"/>
            </a:solidFill>
            <a:prstDash val="dash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17373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2514E"/>
                </a:solidFill>
              </a:rPr>
              <a:t>gradients flow back through the optimizer</a:t>
            </a:r>
            <a:endParaRPr lang="en-US" sz="1100" dirty="0"/>
          </a:p>
        </p:txBody>
      </p:sp>
      <p:sp>
        <p:nvSpPr>
          <p:cNvPr id="41" name="example-card"/>
          <p:cNvSpPr/>
          <p:nvPr/>
        </p:nvSpPr>
        <p:spPr>
          <a:xfrm>
            <a:off x="6903720" y="1371600"/>
            <a:ext cx="4754880" cy="4160520"/>
          </a:xfrm>
          <a:prstGeom prst="roundRect">
            <a:avLst>
              <a:gd name="adj" fmla="val 1758"/>
            </a:avLst>
          </a:prstGeom>
          <a:solidFill>
            <a:srgbClr val="E2EFF0"/>
          </a:solidFill>
          <a:ln w="12700">
            <a:solidFill>
              <a:srgbClr val="E2EFF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132320" y="15361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paper's example, reproduced exactly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7132320" y="187452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Realized utility (%) of mean-variance portfolios built from three pricing models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0" y="2514600"/>
          <a:ext cx="429768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960120"/>
                <a:gridCol w="960120"/>
                <a:gridCol w="9601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Investor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3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OLS (best fit)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3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pro-large-cap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3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pro-small-cap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3E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risk-averse, η = 10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31.97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B6834"/>
                          </a:solidFill>
                        </a:rPr>
                        <a:t>32.01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31.90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risk-tolerant, η = 1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62.84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62.53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B6834"/>
                          </a:solidFill>
                        </a:rPr>
                        <a:t>62.90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Text 42"/>
          <p:cNvSpPr txBox="1"/>
          <p:nvPr/>
        </p:nvSpPr>
        <p:spPr>
          <a:xfrm>
            <a:off x="7132320" y="397764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The model with the lowest MSE is best for neither investor.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Accuracy matters most where the portfolio puts its weight, and that depends on the investor.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2514E"/>
                </a:solidFill>
              </a:rPr>
              <a:t>Our check: OLS fit [0.652, 0.927] and all six utilities match the paper (OLS without intercept).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Methodology: learning through the optimizer</a:t>
            </a:r>
            <a:endParaRPr lang="en-US" sz="3200" dirty="0"/>
          </a:p>
        </p:txBody>
      </p:sp>
      <p:sp>
        <p:nvSpPr>
          <p:cNvPr id="3" name="method-mse"/>
          <p:cNvSpPr/>
          <p:nvPr/>
        </p:nvSpPr>
        <p:spPr>
          <a:xfrm>
            <a:off x="548640" y="1325880"/>
            <a:ext cx="6583680" cy="146304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90472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Benchmark: fit, then optimize</a:t>
            </a:r>
            <a:endParaRPr lang="en-US" sz="1600" dirty="0"/>
          </a:p>
        </p:txBody>
      </p:sp>
      <p:pic>
        <p:nvPicPr>
          <p:cNvPr id="5" name="Image 0" descr="Equation: m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92808"/>
            <a:ext cx="2531683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42316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Linear or NN1–NN5, Adam, early stopping; deciles of r̂ each day</a:t>
            </a:r>
            <a:endParaRPr lang="en-US" sz="1200" dirty="0"/>
          </a:p>
        </p:txBody>
      </p:sp>
      <p:sp>
        <p:nvSpPr>
          <p:cNvPr id="7" name="method-lower"/>
          <p:cNvSpPr/>
          <p:nvPr/>
        </p:nvSpPr>
        <p:spPr>
          <a:xfrm>
            <a:off x="548640" y="2953512"/>
            <a:ext cx="6583680" cy="146304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3118104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Lower level: the portfolio layer</a:t>
            </a:r>
            <a:endParaRPr lang="en-US" sz="1600" dirty="0"/>
          </a:p>
        </p:txBody>
      </p:sp>
      <p:pic>
        <p:nvPicPr>
          <p:cNvPr id="9" name="Image 1" descr="Equation: low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520440"/>
            <a:ext cx="4521003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" y="4050792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Cap u = 1/(10% of N): with ζ and γ at zero this is the equal-weight top decile</a:t>
            </a:r>
            <a:endParaRPr lang="en-US" sz="1200" dirty="0"/>
          </a:p>
        </p:txBody>
      </p:sp>
      <p:sp>
        <p:nvSpPr>
          <p:cNvPr id="11" name="method-upper"/>
          <p:cNvSpPr/>
          <p:nvPr/>
        </p:nvSpPr>
        <p:spPr>
          <a:xfrm>
            <a:off x="548640" y="4581144"/>
            <a:ext cx="6583680" cy="146304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4745736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Upper level: learn θ for the decision</a:t>
            </a:r>
            <a:endParaRPr lang="en-US" sz="1600" dirty="0"/>
          </a:p>
        </p:txBody>
      </p:sp>
      <p:pic>
        <p:nvPicPr>
          <p:cNvPr id="13" name="Image 2" descr="Equation: upp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148072"/>
            <a:ext cx="4946535" cy="5029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77240" y="5678424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ζ smooths the linear program; γ is the transaction cost rate</a:t>
            </a:r>
            <a:endParaRPr lang="en-US" sz="1200" dirty="0"/>
          </a:p>
        </p:txBody>
      </p:sp>
      <p:sp>
        <p:nvSpPr>
          <p:cNvPr id="15" name="layer-card"/>
          <p:cNvSpPr/>
          <p:nvPr/>
        </p:nvSpPr>
        <p:spPr>
          <a:xfrm>
            <a:off x="7406640" y="1325880"/>
            <a:ext cx="4251960" cy="4882896"/>
          </a:xfrm>
          <a:prstGeom prst="roundRect">
            <a:avLst>
              <a:gd name="adj" fmla="val 1720"/>
            </a:avLst>
          </a:prstGeom>
          <a:solidFill>
            <a:srgbClr val="E2EFF0"/>
          </a:solidFill>
          <a:ln w="12700">
            <a:solidFill>
              <a:srgbClr val="E2EFF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635240" y="1490472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 exact layer (replaces KKT solvers)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7635240" y="182880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The problem is separable up to the budget, so one threshold τ solves it:</a:t>
            </a:r>
            <a:endParaRPr lang="en-US" sz="1200" dirty="0"/>
          </a:p>
        </p:txBody>
      </p:sp>
      <p:pic>
        <p:nvPicPr>
          <p:cNvPr id="18" name="Image 3" descr="Equation: lay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2377440"/>
            <a:ext cx="3600514" cy="359231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635240" y="292608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S is a soft threshold around yesterday's weight p. On the free stocks F:</a:t>
            </a:r>
            <a:endParaRPr lang="en-US" sz="1200" dirty="0"/>
          </a:p>
        </p:txBody>
      </p:sp>
      <p:pic>
        <p:nvPicPr>
          <p:cNvPr id="20" name="Image 4" descr="Equation: jacobi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5240" y="3474720"/>
            <a:ext cx="2182014" cy="54419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635240" y="4251960"/>
            <a:ext cx="3794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O(N) backward pass on the GPU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Solution never worse than a generic solver (gap &lt; 1e-17)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Gradient matches finite differences (error ~1e-11)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Machine learning at each stage, and why</a:t>
            </a:r>
            <a:endParaRPr lang="en-US" sz="3200" dirty="0"/>
          </a:p>
        </p:txBody>
      </p:sp>
      <p:sp>
        <p:nvSpPr>
          <p:cNvPr id="3" name="ml-0"/>
          <p:cNvSpPr/>
          <p:nvPr/>
        </p:nvSpPr>
        <p:spPr>
          <a:xfrm>
            <a:off x="548640" y="132588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ml-num-0"/>
          <p:cNvSpPr/>
          <p:nvPr/>
        </p:nvSpPr>
        <p:spPr>
          <a:xfrm>
            <a:off x="749808" y="1508760"/>
            <a:ext cx="457200" cy="457200"/>
          </a:xfrm>
          <a:prstGeom prst="ellipse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545336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Prediction layer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031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Linear and NN1–NN5 (32-16-8-4-2); LayerNorm, ReLU, BatchNorm, 5% dropout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9260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Why: </a:t>
            </a:r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Benchmark architectures of Gu, Kelly &amp; Xiu; small nets resist daily noise</a:t>
            </a:r>
            <a:endParaRPr lang="en-US" sz="1200" dirty="0"/>
          </a:p>
        </p:txBody>
      </p:sp>
      <p:sp>
        <p:nvSpPr>
          <p:cNvPr id="9" name="ml-1"/>
          <p:cNvSpPr/>
          <p:nvPr/>
        </p:nvSpPr>
        <p:spPr>
          <a:xfrm>
            <a:off x="4297680" y="132588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ml-num-1"/>
          <p:cNvSpPr/>
          <p:nvPr/>
        </p:nvSpPr>
        <p:spPr>
          <a:xfrm>
            <a:off x="4498848" y="1508760"/>
            <a:ext cx="457200" cy="457200"/>
          </a:xfrm>
          <a:prstGeom prst="ellipse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98848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74920" y="1545336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Training objective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1031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MSE for the two-stage model; realized portfolio return for E2E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29260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Why: </a:t>
            </a:r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Puts accuracy where the long-only portfolio puts its weight</a:t>
            </a:r>
            <a:endParaRPr lang="en-US" sz="1200" dirty="0"/>
          </a:p>
        </p:txBody>
      </p:sp>
      <p:sp>
        <p:nvSpPr>
          <p:cNvPr id="15" name="ml-2"/>
          <p:cNvSpPr/>
          <p:nvPr/>
        </p:nvSpPr>
        <p:spPr>
          <a:xfrm>
            <a:off x="8046720" y="132588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ml-num-2"/>
          <p:cNvSpPr/>
          <p:nvPr/>
        </p:nvSpPr>
        <p:spPr>
          <a:xfrm>
            <a:off x="8247888" y="1508760"/>
            <a:ext cx="457200" cy="457200"/>
          </a:xfrm>
          <a:prstGeom prst="ellipse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47888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823960" y="1545336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Optimization layer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21031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Smoothed top-decile program with a transaction-cost penalty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9260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Why: </a:t>
            </a:r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Gradients through argmin; ζ makes the solution Lipschitz</a:t>
            </a:r>
            <a:endParaRPr lang="en-US" sz="1200" dirty="0"/>
          </a:p>
        </p:txBody>
      </p:sp>
      <p:sp>
        <p:nvSpPr>
          <p:cNvPr id="21" name="ml-3"/>
          <p:cNvSpPr/>
          <p:nvPr/>
        </p:nvSpPr>
        <p:spPr>
          <a:xfrm>
            <a:off x="548640" y="384048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2" name="ml-num-3"/>
          <p:cNvSpPr/>
          <p:nvPr/>
        </p:nvSpPr>
        <p:spPr>
          <a:xfrm>
            <a:off x="749808" y="4023360"/>
            <a:ext cx="457200" cy="457200"/>
          </a:xfrm>
          <a:prstGeom prst="ellipse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4059936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Training protocol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46177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Adam, early stopping (patience 10); E2E warm-started from MSE; 8-day batches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54406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Why: </a:t>
            </a:r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Stable and fast; days kept in order when costs link them</a:t>
            </a:r>
            <a:endParaRPr lang="en-US" sz="1200" dirty="0"/>
          </a:p>
        </p:txBody>
      </p:sp>
      <p:sp>
        <p:nvSpPr>
          <p:cNvPr id="27" name="ml-4"/>
          <p:cNvSpPr/>
          <p:nvPr/>
        </p:nvSpPr>
        <p:spPr>
          <a:xfrm>
            <a:off x="4297680" y="384048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8" name="ml-num-4"/>
          <p:cNvSpPr/>
          <p:nvPr/>
        </p:nvSpPr>
        <p:spPr>
          <a:xfrm>
            <a:off x="4498848" y="4023360"/>
            <a:ext cx="457200" cy="457200"/>
          </a:xfrm>
          <a:prstGeom prst="ellipse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498848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074920" y="4059936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Validation design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4526280" y="46177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39m / 9m / 3m rolling windows, 2-day embargo, all choices on validation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526280" y="54406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Why: </a:t>
            </a:r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No look-ahead: the test quarter is never used to choose anything</a:t>
            </a:r>
            <a:endParaRPr lang="en-US" sz="1200" dirty="0"/>
          </a:p>
        </p:txBody>
      </p:sp>
      <p:sp>
        <p:nvSpPr>
          <p:cNvPr id="33" name="ml-5"/>
          <p:cNvSpPr/>
          <p:nvPr/>
        </p:nvSpPr>
        <p:spPr>
          <a:xfrm>
            <a:off x="8046720" y="384048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CEBE3"/>
          </a:solidFill>
          <a:ln w="12700">
            <a:solidFill>
              <a:srgbClr val="FCEBE3"/>
            </a:solidFill>
            <a:prstDash val="solid"/>
          </a:ln>
        </p:spPr>
      </p:sp>
      <p:sp>
        <p:nvSpPr>
          <p:cNvPr id="34" name="ml-num-5"/>
          <p:cNvSpPr/>
          <p:nvPr/>
        </p:nvSpPr>
        <p:spPr>
          <a:xfrm>
            <a:off x="8247888" y="4023360"/>
            <a:ext cx="457200" cy="45720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47888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823960" y="4059936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 models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8275320" y="46177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Ridge, PCR, PLS, LDA, GMM experts, SVR, decision-aware PCA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275320" y="54406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Why: </a:t>
            </a:r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Regularize 251 collinear features; test reduction chosen by the decision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Auditing the paper: what doesn't add up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32588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CEBE3"/>
          </a:solidFill>
          <a:ln w="12700">
            <a:solidFill>
              <a:srgbClr val="FCEB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4630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11.2M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22402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stock-days implied by Table A.1; the text reports 5.96M</a:t>
            </a:r>
            <a:endParaRPr lang="en-US" sz="1200" dirty="0"/>
          </a:p>
        </p:txBody>
      </p:sp>
      <p:sp>
        <p:nvSpPr>
          <p:cNvPr id="6" name="stat-1"/>
          <p:cNvSpPr/>
          <p:nvPr/>
        </p:nvSpPr>
        <p:spPr>
          <a:xfrm>
            <a:off x="3383280" y="132588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CEBE3"/>
          </a:solidFill>
          <a:ln w="12700">
            <a:solidFill>
              <a:srgbClr val="FCEB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84448" y="14630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53.35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584448" y="22402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NN3-E2E long-short return implied by its own H and L; 54.9 is reported</a:t>
            </a:r>
            <a:endParaRPr lang="en-US" sz="1200" dirty="0"/>
          </a:p>
        </p:txBody>
      </p:sp>
      <p:sp>
        <p:nvSpPr>
          <p:cNvPr id="9" name="stat-2"/>
          <p:cNvSpPr/>
          <p:nvPr/>
        </p:nvSpPr>
        <p:spPr>
          <a:xfrm>
            <a:off x="6217920" y="132588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CEBE3"/>
          </a:solidFill>
          <a:ln w="12700">
            <a:solidFill>
              <a:srgbClr val="FCEB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9088" y="14630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0.08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22402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two-sided, for t = 1.74, which the paper marks significant at 5%</a:t>
            </a:r>
            <a:endParaRPr lang="en-US" sz="1200" dirty="0"/>
          </a:p>
        </p:txBody>
      </p:sp>
      <p:sp>
        <p:nvSpPr>
          <p:cNvPr id="12" name="stat-3"/>
          <p:cNvSpPr/>
          <p:nvPr/>
        </p:nvSpPr>
        <p:spPr>
          <a:xfrm>
            <a:off x="9052560" y="132588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CEBE3"/>
          </a:solidFill>
          <a:ln w="12700">
            <a:solidFill>
              <a:srgbClr val="FCEB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53728" y="14630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−0.04%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9253728" y="22402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2017Q1 top-decile daily return once untradeable stocks are excluded (+0.76% with them)</a:t>
            </a:r>
            <a:endParaRPr lang="en-US" sz="1200" dirty="0"/>
          </a:p>
        </p:txBody>
      </p:sp>
      <p:sp>
        <p:nvSpPr>
          <p:cNvPr id="15" name="conv-card"/>
          <p:cNvSpPr/>
          <p:nvPr/>
        </p:nvSpPr>
        <p:spPr>
          <a:xfrm>
            <a:off x="548640" y="338328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54787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Conventions recovered from the tables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388620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H–L is (H − L)/2 in every cell but one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Cost = γ × one-sided turnover ½‖Δw‖₁ (matches Table 3 to 0.2 pp)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Annualized with about 243 trading days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Drawdowns on cumulative sums; length in calendar days</a:t>
            </a:r>
            <a:endParaRPr lang="en-US" sz="1400" dirty="0"/>
          </a:p>
        </p:txBody>
      </p:sp>
      <p:sp>
        <p:nvSpPr>
          <p:cNvPr id="18" name="fix-card"/>
          <p:cNvSpPr/>
          <p:nvPr/>
        </p:nvSpPr>
        <p:spPr>
          <a:xfrm>
            <a:off x="6217920" y="338328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E2EFF0"/>
          </a:solidFill>
          <a:ln w="12700">
            <a:solidFill>
              <a:srgbClr val="E2EF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46520" y="354787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 fixes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388620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Smoothing ζ‖w‖² squared and tuned (paper: unsquared, ζ unreported)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Daily rebalancing, despite "quarterly" captions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Two-day embargo at every train / validation / test boundary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Tradability: drop new listings and stocks locked at the upper limit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Tuned MSE-Opt benchmark; one- and two-sided tests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Our extensions: dimension reduction for the decision</a:t>
            </a:r>
            <a:endParaRPr lang="en-US" sz="3200" dirty="0"/>
          </a:p>
        </p:txBody>
      </p:sp>
      <p:sp>
        <p:nvSpPr>
          <p:cNvPr id="3" name="pipe-0"/>
          <p:cNvSpPr/>
          <p:nvPr/>
        </p:nvSpPr>
        <p:spPr>
          <a:xfrm>
            <a:off x="548640" y="1371600"/>
            <a:ext cx="2468880" cy="6858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251 features</a:t>
            </a:r>
            <a:endParaRPr lang="en-US" sz="1500" dirty="0"/>
          </a:p>
        </p:txBody>
      </p:sp>
      <p:sp>
        <p:nvSpPr>
          <p:cNvPr id="5" name="pipe-a0"/>
          <p:cNvSpPr/>
          <p:nvPr/>
        </p:nvSpPr>
        <p:spPr>
          <a:xfrm>
            <a:off x="3063240" y="1714500"/>
            <a:ext cx="274320" cy="914"/>
          </a:xfrm>
          <a:prstGeom prst="line">
            <a:avLst/>
          </a:prstGeom>
          <a:noFill/>
          <a:ln w="22225">
            <a:solidFill>
              <a:srgbClr val="1F2A44"/>
            </a:solidFill>
            <a:prstDash val="solid"/>
            <a:tailEnd type="triangle"/>
          </a:ln>
        </p:spPr>
      </p:sp>
      <p:sp>
        <p:nvSpPr>
          <p:cNvPr id="6" name="pipe-1"/>
          <p:cNvSpPr/>
          <p:nvPr/>
        </p:nvSpPr>
        <p:spPr>
          <a:xfrm>
            <a:off x="3383280" y="1371600"/>
            <a:ext cx="2468880" cy="685800"/>
          </a:xfrm>
          <a:prstGeom prst="roundRect">
            <a:avLst>
              <a:gd name="adj" fmla="val 8000"/>
            </a:avLst>
          </a:prstGeom>
          <a:solidFill>
            <a:srgbClr val="FCEBE3"/>
          </a:solidFill>
          <a:ln w="12700">
            <a:solidFill>
              <a:srgbClr val="FCEB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83280" y="13716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Reduction</a:t>
            </a:r>
            <a:endParaRPr lang="en-US" sz="1500" dirty="0"/>
          </a:p>
        </p:txBody>
      </p:sp>
      <p:sp>
        <p:nvSpPr>
          <p:cNvPr id="8" name="pipe-a1"/>
          <p:cNvSpPr/>
          <p:nvPr/>
        </p:nvSpPr>
        <p:spPr>
          <a:xfrm>
            <a:off x="5897880" y="1714500"/>
            <a:ext cx="274320" cy="914"/>
          </a:xfrm>
          <a:prstGeom prst="line">
            <a:avLst/>
          </a:prstGeom>
          <a:noFill/>
          <a:ln w="22225">
            <a:solidFill>
              <a:srgbClr val="1F2A44"/>
            </a:solidFill>
            <a:prstDash val="solid"/>
            <a:tailEnd type="triangle"/>
          </a:ln>
        </p:spPr>
      </p:sp>
      <p:sp>
        <p:nvSpPr>
          <p:cNvPr id="9" name="pipe-2"/>
          <p:cNvSpPr/>
          <p:nvPr/>
        </p:nvSpPr>
        <p:spPr>
          <a:xfrm>
            <a:off x="6217920" y="1371600"/>
            <a:ext cx="2468880" cy="6858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3716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Model</a:t>
            </a:r>
            <a:endParaRPr lang="en-US" sz="1500" dirty="0"/>
          </a:p>
        </p:txBody>
      </p:sp>
      <p:sp>
        <p:nvSpPr>
          <p:cNvPr id="11" name="pipe-a2"/>
          <p:cNvSpPr/>
          <p:nvPr/>
        </p:nvSpPr>
        <p:spPr>
          <a:xfrm>
            <a:off x="8732520" y="1714500"/>
            <a:ext cx="274320" cy="914"/>
          </a:xfrm>
          <a:prstGeom prst="line">
            <a:avLst/>
          </a:prstGeom>
          <a:noFill/>
          <a:ln w="22225">
            <a:solidFill>
              <a:srgbClr val="1F2A44"/>
            </a:solidFill>
            <a:prstDash val="solid"/>
            <a:tailEnd type="triangle"/>
          </a:ln>
        </p:spPr>
      </p:sp>
      <p:sp>
        <p:nvSpPr>
          <p:cNvPr id="12" name="pipe-3"/>
          <p:cNvSpPr/>
          <p:nvPr/>
        </p:nvSpPr>
        <p:spPr>
          <a:xfrm>
            <a:off x="9052560" y="1371600"/>
            <a:ext cx="2468880" cy="6858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052560" y="13716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Portfolio layer</a:t>
            </a:r>
            <a:endParaRPr lang="en-US" sz="1500" dirty="0"/>
          </a:p>
        </p:txBody>
      </p:sp>
      <p:sp>
        <p:nvSpPr>
          <p:cNvPr id="14" name="ext-pcr"/>
          <p:cNvSpPr/>
          <p:nvPr/>
        </p:nvSpPr>
        <p:spPr>
          <a:xfrm>
            <a:off x="548640" y="23774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254203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PCA (unsupervised)</a:t>
            </a:r>
            <a:endParaRPr lang="en-US" sz="1600" dirty="0"/>
          </a:p>
        </p:txBody>
      </p:sp>
      <p:pic>
        <p:nvPicPr>
          <p:cNvPr id="16" name="Image 0" descr="Equation: pc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999232"/>
            <a:ext cx="2559671" cy="3935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77240" y="35844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Top-K principal components of the numeric features</a:t>
            </a:r>
            <a:endParaRPr lang="en-US" sz="1200" dirty="0"/>
          </a:p>
        </p:txBody>
      </p:sp>
      <p:sp>
        <p:nvSpPr>
          <p:cNvPr id="18" name="ext-lda"/>
          <p:cNvSpPr/>
          <p:nvPr/>
        </p:nvSpPr>
        <p:spPr>
          <a:xfrm>
            <a:off x="4251960" y="23774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480560" y="254203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LDA (supervised by deciles)</a:t>
            </a:r>
            <a:endParaRPr lang="en-US" sz="1600" dirty="0"/>
          </a:p>
        </p:txBody>
      </p:sp>
      <p:pic>
        <p:nvPicPr>
          <p:cNvPr id="20" name="Image 1" descr="Equation: ld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2999232"/>
            <a:ext cx="2781605" cy="359231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480560" y="35844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Directions that separate each day's return deciles</a:t>
            </a:r>
            <a:endParaRPr lang="en-US" sz="1200" dirty="0"/>
          </a:p>
        </p:txBody>
      </p:sp>
      <p:sp>
        <p:nvSpPr>
          <p:cNvPr id="22" name="ext-dapca"/>
          <p:cNvSpPr/>
          <p:nvPr/>
        </p:nvSpPr>
        <p:spPr>
          <a:xfrm>
            <a:off x="548640" y="429768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CEBE3"/>
          </a:solidFill>
          <a:ln w="12700">
            <a:solidFill>
              <a:srgbClr val="FCEBE3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77240" y="44622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Decision-aware PCA (new)</a:t>
            </a:r>
            <a:endParaRPr lang="en-US" sz="1600" dirty="0"/>
          </a:p>
        </p:txBody>
      </p:sp>
      <p:pic>
        <p:nvPicPr>
          <p:cNvPr id="24" name="Image 2" descr="Equation: dapc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919472"/>
            <a:ext cx="2829154" cy="377775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77240" y="550468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Start at PCA loadings; let the portfolio loss move them</a:t>
            </a:r>
            <a:endParaRPr lang="en-US" sz="1200" dirty="0"/>
          </a:p>
        </p:txBody>
      </p:sp>
      <p:sp>
        <p:nvSpPr>
          <p:cNvPr id="26" name="ext-gmm"/>
          <p:cNvSpPr/>
          <p:nvPr/>
        </p:nvSpPr>
        <p:spPr>
          <a:xfrm>
            <a:off x="4251960" y="429768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4480560" y="44622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GMM mixture of experts</a:t>
            </a:r>
            <a:endParaRPr lang="en-US" sz="1600" dirty="0"/>
          </a:p>
        </p:txBody>
      </p:sp>
      <p:pic>
        <p:nvPicPr>
          <p:cNvPr id="28" name="Image 3" descr="Equation: gm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4919472"/>
            <a:ext cx="1925726" cy="438519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480560" y="550468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Separate linear rules for large and small firms</a:t>
            </a:r>
            <a:endParaRPr lang="en-US" sz="1200" dirty="0"/>
          </a:p>
        </p:txBody>
      </p:sp>
      <p:sp>
        <p:nvSpPr>
          <p:cNvPr id="30" name="insight-card"/>
          <p:cNvSpPr/>
          <p:nvPr/>
        </p:nvSpPr>
        <p:spPr>
          <a:xfrm>
            <a:off x="8092440" y="237744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E2EFF0"/>
          </a:solidFill>
          <a:ln w="12700">
            <a:solidFill>
              <a:srgbClr val="E2EFF0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321040" y="25420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Key point</a:t>
            </a:r>
            <a:endParaRPr lang="en-US" sz="1600" dirty="0"/>
          </a:p>
        </p:txBody>
      </p:sp>
      <p:sp>
        <p:nvSpPr>
          <p:cNvPr id="32" name="Text 26"/>
          <p:cNvSpPr txBox="1"/>
          <p:nvPr/>
        </p:nvSpPr>
        <p:spPr>
          <a:xfrm>
            <a:off x="8321040" y="2880360"/>
            <a:ext cx="3108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For a linear model, a learned linear bottleneck adds nothing: (Wγ)ᵀx is still one linear score.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 reduction must act as a constraint. Decision-aware PCA keeps W near the PCA loadings and lets the portfolio objective move them.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Also: PLS, persistence-aware (low-turnover) components, linear and kernel SVR.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training for the decision (2014–2023)</a:t>
            </a:r>
            <a:endParaRPr lang="en-US" sz="3200" dirty="0"/>
          </a:p>
        </p:txBody>
      </p:sp>
      <p:graphicFrame>
        <p:nvGraphicFramePr>
          <p:cNvPr id="3" name="chart-e2e-vs-two-stage" descr=""/>
          <p:cNvGraphicFramePr/>
          <p:nvPr/>
        </p:nvGraphicFramePr>
        <p:xfrm>
          <a:off x="548640" y="1280160"/>
          <a:ext cx="576072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tat-da"/>
          <p:cNvSpPr/>
          <p:nvPr/>
        </p:nvSpPr>
        <p:spPr>
          <a:xfrm>
            <a:off x="6537960" y="1325880"/>
            <a:ext cx="5120640" cy="1298448"/>
          </a:xfrm>
          <a:prstGeom prst="roundRect">
            <a:avLst>
              <a:gd name="adj" fmla="val 5634"/>
            </a:avLst>
          </a:prstGeom>
          <a:solidFill>
            <a:srgbClr val="FCEBE3"/>
          </a:solidFill>
          <a:ln w="12700">
            <a:solidFill>
              <a:srgbClr val="FCEBE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720840" y="1453896"/>
            <a:ext cx="1691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+8.6 pp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8503920" y="1453896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Decision-aware PCA (ours)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PCA20-Linear: 21.8% → 30.4% a year when the loadings learn from the portfolio (t = 5.0)</a:t>
            </a:r>
            <a:endParaRPr lang="en-US" sz="1200" dirty="0"/>
          </a:p>
        </p:txBody>
      </p:sp>
      <p:sp>
        <p:nvSpPr>
          <p:cNvPr id="7" name="stat-costs"/>
          <p:cNvSpPr/>
          <p:nvPr/>
        </p:nvSpPr>
        <p:spPr>
          <a:xfrm>
            <a:off x="6537960" y="2715768"/>
            <a:ext cx="5120640" cy="1298448"/>
          </a:xfrm>
          <a:prstGeom prst="roundRect">
            <a:avLst>
              <a:gd name="adj" fmla="val 563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20840" y="2843784"/>
            <a:ext cx="1691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7%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8503920" y="2843784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Costs, 20 bps: daily turnover of E2E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vs 28% for the MSE top decile. Net return 24.7% vs 15.2% (MSE-Top) and 23.2% (tuned MSE-Opt, t = 1.2)</a:t>
            </a:r>
            <a:endParaRPr lang="en-US" sz="1200" dirty="0"/>
          </a:p>
        </p:txBody>
      </p:sp>
      <p:sp>
        <p:nvSpPr>
          <p:cNvPr id="10" name="stat-meansd"/>
          <p:cNvSpPr/>
          <p:nvPr/>
        </p:nvSpPr>
        <p:spPr>
          <a:xfrm>
            <a:off x="6537960" y="4105656"/>
            <a:ext cx="5120640" cy="1298448"/>
          </a:xfrm>
          <a:prstGeom prst="roundRect">
            <a:avLst>
              <a:gd name="adj" fmla="val 5634"/>
            </a:avLst>
          </a:prstGeom>
          <a:solidFill>
            <a:srgbClr val="E2EFF0"/>
          </a:solidFill>
          <a:ln w="12700">
            <a:solidFill>
              <a:srgbClr val="E2EFF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720840" y="4233672"/>
            <a:ext cx="1691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1.36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8503920" y="4233672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Mean–SD, η = 1: Sharpe of E2E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vs 1.28 for MSE-Opt; volatility 22.1% vs 23.0% (difference t = 0.3)</a:t>
            </a:r>
            <a:endParaRPr lang="en-US" sz="1200" dirty="0"/>
          </a:p>
        </p:txBody>
      </p:sp>
      <p:sp>
        <p:nvSpPr>
          <p:cNvPr id="13" name="finding-box"/>
          <p:cNvSpPr/>
          <p:nvPr/>
        </p:nvSpPr>
        <p:spPr>
          <a:xfrm>
            <a:off x="548640" y="5532120"/>
            <a:ext cx="11109960" cy="658368"/>
          </a:xfrm>
          <a:prstGeom prst="roundRect">
            <a:avLst>
              <a:gd name="adj" fmla="val 8333"/>
            </a:avLst>
          </a:prstGeom>
          <a:solidFill>
            <a:srgbClr val="E2EFF0"/>
          </a:solidFill>
          <a:ln w="12700">
            <a:solidFill>
              <a:srgbClr val="E2EFF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553212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Accuracy ≠ decision quality: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among two-stage models Ridge-rank has the best rank IC (0.077) but Linear the best long-only Sharpe (1.36).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ision Learning">
  <a:themeElements>
    <a:clrScheme name="Decision Learning">
      <a:dk1>
        <a:srgbClr val="1F2A44"/>
      </a:dk1>
      <a:lt1>
        <a:srgbClr val="FFFFFF"/>
      </a:lt1>
      <a:dk2>
        <a:srgbClr val="0E5E6F"/>
      </a:dk2>
      <a:lt2>
        <a:srgbClr val="EEF2F7"/>
      </a:lt2>
      <a:accent1>
        <a:srgbClr val="2A78D6"/>
      </a:accent1>
      <a:accent2>
        <a:srgbClr val="EB6834"/>
      </a:accent2>
      <a:accent3>
        <a:srgbClr val="1BAF7A"/>
      </a:accent3>
      <a:accent4>
        <a:srgbClr val="EDA100"/>
      </a:accent4>
      <a:accent5>
        <a:srgbClr val="0E5E6F"/>
      </a:accent5>
      <a:accent6>
        <a:srgbClr val="6250D6"/>
      </a:accent6>
      <a:hlink>
        <a:srgbClr val="2A78D6"/>
      </a:hlink>
      <a:folHlink>
        <a:srgbClr val="6250D6"/>
      </a:folHlink>
    </a:clrScheme>
    <a:fontScheme name="Decision Learning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Learning for the Decision</dc:title>
  <dc:subject>PptxGenJS Presentation</dc:subject>
  <dc:creator>Kumar Utkarsh</dc:creator>
  <cp:lastModifiedBy>Kumar Utkarsh</cp:lastModifiedBy>
  <cp:revision>1</cp:revision>
  <dcterms:created xsi:type="dcterms:W3CDTF">2026-10-29T08:54:28Z</dcterms:created>
  <dcterms:modified xsi:type="dcterms:W3CDTF">2026-10-29T08:54:28Z</dcterms:modified>
</cp:coreProperties>
</file>