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87413b41-94f9-0d56-d9de-947c256df19a}">
          <p14:sldIdLst>
            <p14:sldId id="256"/>
          </p14:sldIdLst>
        </p14:section>
        <p14:section name="Problem" id="{be76eed5-10fe-2547-900c-47eb5b7b1c9a}">
          <p14:sldIdLst>
            <p14:sldId id="257"/>
          </p14:sldIdLst>
        </p14:section>
        <p14:section name="Methodology" id="{c6adea7b-ebe4-4e3c-30d5-67bb2e5058cb}">
          <p14:sldIdLst>
            <p14:sldId id="258"/>
            <p14:sldId id="259"/>
          </p14:sldIdLst>
        </p14:section>
        <p14:section name="Extensions" id="{95450f19-4ca1-4cfe-4bdc-ceb2b87e9649}">
          <p14:sldIdLst>
            <p14:sldId id="260"/>
            <p14:sldId id="261"/>
          </p14:sldIdLst>
        </p14:section>
        <p14:section name="Results" id="{6bcbc3f5-7fd4-822a-f966-4c48ec85c577}">
          <p14:sldIdLst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2A44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F2A44"/>
                </a:solidFill>
                <a:latin typeface="+mn-lt"/>
              </a:rPr>
              <a:t>Statistical accuracy: mean daily rank IC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Rank IC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52514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LDA-top</c:v>
                  </c:pt>
                  <c:pt idx="1">
                    <c:v>PCR</c:v>
                  </c:pt>
                  <c:pt idx="2">
                    <c:v>NN5</c:v>
                  </c:pt>
                  <c:pt idx="3">
                    <c:v>Ridge-rank</c:v>
                  </c:pt>
                  <c:pt idx="4">
                    <c:v>LDA</c:v>
                  </c:pt>
                  <c:pt idx="5">
                    <c:v>Ridge</c:v>
                  </c:pt>
                  <c:pt idx="6">
                    <c:v>NN3</c:v>
                  </c:pt>
                  <c:pt idx="7">
                    <c:v>NN2</c:v>
                  </c:pt>
                  <c:pt idx="8">
                    <c:v>PLS</c:v>
                  </c:pt>
                  <c:pt idx="9">
                    <c:v>NN4</c:v>
                  </c:pt>
                  <c:pt idx="10">
                    <c:v>OLS</c:v>
                  </c:pt>
                  <c:pt idx="11">
                    <c:v>NN1</c:v>
                  </c:pt>
                  <c:pt idx="12">
                    <c:v>Linear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0.061</c:v>
                </c:pt>
                <c:pt idx="1">
                  <c:v>0.065</c:v>
                </c:pt>
                <c:pt idx="2">
                  <c:v>0.06</c:v>
                </c:pt>
                <c:pt idx="3">
                  <c:v>0.077</c:v>
                </c:pt>
                <c:pt idx="4">
                  <c:v>0.073</c:v>
                </c:pt>
                <c:pt idx="5">
                  <c:v>0.069</c:v>
                </c:pt>
                <c:pt idx="6">
                  <c:v>0.061</c:v>
                </c:pt>
                <c:pt idx="7">
                  <c:v>0.063</c:v>
                </c:pt>
                <c:pt idx="8">
                  <c:v>0.071</c:v>
                </c:pt>
                <c:pt idx="9">
                  <c:v>0.063</c:v>
                </c:pt>
                <c:pt idx="10">
                  <c:v>0.066</c:v>
                </c:pt>
                <c:pt idx="11">
                  <c:v>0.062</c:v>
                </c:pt>
                <c:pt idx="12">
                  <c:v>0.067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100" u="none">
                  <a:solidFill>
                    <a:srgbClr val="52514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2A44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F2A44"/>
                </a:solidFill>
                <a:latin typeface="+mn-lt"/>
              </a:rPr>
              <a:t>Portfolio quality: top-decile Sharpe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Sharpe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52514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Sheet1!$A$2:$A$14</c:f>
              <c:multiLvlStrCache>
                <c:ptCount val="13"/>
                <c:lvl>
                  <c:pt idx="0">
                    <c:v>LDA-top</c:v>
                  </c:pt>
                  <c:pt idx="1">
                    <c:v>PCR</c:v>
                  </c:pt>
                  <c:pt idx="2">
                    <c:v>NN5</c:v>
                  </c:pt>
                  <c:pt idx="3">
                    <c:v>Ridge-rank</c:v>
                  </c:pt>
                  <c:pt idx="4">
                    <c:v>LDA</c:v>
                  </c:pt>
                  <c:pt idx="5">
                    <c:v>Ridge</c:v>
                  </c:pt>
                  <c:pt idx="6">
                    <c:v>NN3</c:v>
                  </c:pt>
                  <c:pt idx="7">
                    <c:v>NN2</c:v>
                  </c:pt>
                  <c:pt idx="8">
                    <c:v>PLS</c:v>
                  </c:pt>
                  <c:pt idx="9">
                    <c:v>NN4</c:v>
                  </c:pt>
                  <c:pt idx="10">
                    <c:v>OLS</c:v>
                  </c:pt>
                  <c:pt idx="11">
                    <c:v>NN1</c:v>
                  </c:pt>
                  <c:pt idx="12">
                    <c:v>Linear</c:v>
                  </c:pt>
                </c:lvl>
              </c:multiLvlStrCache>
            </c:multiLvl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0.65</c:v>
                </c:pt>
                <c:pt idx="1">
                  <c:v>1.09</c:v>
                </c:pt>
                <c:pt idx="2">
                  <c:v>1.13</c:v>
                </c:pt>
                <c:pt idx="3">
                  <c:v>1.2</c:v>
                </c:pt>
                <c:pt idx="4">
                  <c:v>1.2</c:v>
                </c:pt>
                <c:pt idx="5">
                  <c:v>1.23</c:v>
                </c:pt>
                <c:pt idx="6">
                  <c:v>1.23</c:v>
                </c:pt>
                <c:pt idx="7">
                  <c:v>1.26</c:v>
                </c:pt>
                <c:pt idx="8">
                  <c:v>1.28</c:v>
                </c:pt>
                <c:pt idx="9">
                  <c:v>1.29</c:v>
                </c:pt>
                <c:pt idx="10">
                  <c:v>1.35</c:v>
                </c:pt>
                <c:pt idx="11">
                  <c:v>1.35</c:v>
                </c:pt>
                <c:pt idx="12">
                  <c:v>1.36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52514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2514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paper asks whether a return forecaster should be trained for statistical accuracy or for the portfolio it feeds. We replicate it on free China A-share data, audit it, and extend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Two-stage learning fits returns for all stocks equally. E2E puts the optimizer in the loop. The paper's four-asset example, which we reproduced exactly, shows the best statistical fit is best for neither investor.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bilevel problem: the inner problem chooses weights from forecasts, the outer problem chooses network parameters for realized performance. Our layer solves the inner problem exactly and gives its Jacobian in closed form.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stage uses a specific learning choice. Cards 1 to 5 follow the paper; card 6 lists our additions.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recomputed the paper's tables. Three numbers do not reconcile, several conventions are implied but unstated, and we adopt explicit fixes for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Dimension reduction sits between the features and the model. We compare reduction chosen by variance (PCA), by class separation (LDA) and by the portfolio objective (decision-aware PCA).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Long-only, equal-weight top decile, before costs, market-adjusted against the CSI 500. Final E2E and network results are added after training.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676656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383280"/>
            <a:ext cx="64008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CADCFC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98781"/>
                </a:solidFill>
              </a:rPr>
              <a:t>Machine Learning Meets Markowitz: replication and extension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9878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9878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6766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Learning for the Decision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383280"/>
            <a:ext cx="6400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</a:rPr>
              <a:t>Replicating and extending end-to-end Markowitz learning on China A-shares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9FB3D9"/>
                </a:solidFill>
              </a:rPr>
              <a:t>Based on Wang, Gao, Harvey, Liu &amp; Tao (2026), Machine Learning Meets Markowitz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9FB3D9"/>
                </a:solidFill>
              </a:rPr>
              <a:t>Kumar Utkarsh  ·  IIT Guwahati  ·  October 2026</a:t>
            </a:r>
            <a:endParaRPr lang="en-US" sz="1800" dirty="0"/>
          </a:p>
        </p:txBody>
      </p:sp>
      <p:sp>
        <p:nvSpPr>
          <p:cNvPr id="4" name="motif-Predict"/>
          <p:cNvSpPr/>
          <p:nvPr/>
        </p:nvSpPr>
        <p:spPr>
          <a:xfrm>
            <a:off x="8183880" y="2788920"/>
            <a:ext cx="868680" cy="868680"/>
          </a:xfrm>
          <a:prstGeom prst="ellipse">
            <a:avLst/>
          </a:prstGeom>
          <a:solidFill>
            <a:srgbClr val="0E5E6F"/>
          </a:solidFill>
          <a:ln w="12700">
            <a:solidFill>
              <a:srgbClr val="0E5E6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183880" y="27889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909560" y="379476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Predict</a:t>
            </a:r>
            <a:endParaRPr lang="en-US" sz="1400" dirty="0"/>
          </a:p>
        </p:txBody>
      </p:sp>
      <p:sp>
        <p:nvSpPr>
          <p:cNvPr id="7" name="motif-arrow-0"/>
          <p:cNvSpPr/>
          <p:nvPr/>
        </p:nvSpPr>
        <p:spPr>
          <a:xfrm>
            <a:off x="9098280" y="3218688"/>
            <a:ext cx="274320" cy="914"/>
          </a:xfrm>
          <a:prstGeom prst="line">
            <a:avLst/>
          </a:prstGeom>
          <a:noFill/>
          <a:ln w="22225">
            <a:solidFill>
              <a:srgbClr val="9FB3D9"/>
            </a:solidFill>
            <a:prstDash val="solid"/>
            <a:tailEnd type="triangle"/>
          </a:ln>
        </p:spPr>
      </p:sp>
      <p:sp>
        <p:nvSpPr>
          <p:cNvPr id="8" name="motif-Optimize"/>
          <p:cNvSpPr/>
          <p:nvPr/>
        </p:nvSpPr>
        <p:spPr>
          <a:xfrm>
            <a:off x="9418320" y="2788920"/>
            <a:ext cx="868680" cy="86868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418320" y="27889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9144000" y="379476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Optimize</a:t>
            </a:r>
            <a:endParaRPr lang="en-US" sz="1400" dirty="0"/>
          </a:p>
        </p:txBody>
      </p:sp>
      <p:sp>
        <p:nvSpPr>
          <p:cNvPr id="11" name="motif-arrow-1"/>
          <p:cNvSpPr/>
          <p:nvPr/>
        </p:nvSpPr>
        <p:spPr>
          <a:xfrm>
            <a:off x="10332720" y="3218688"/>
            <a:ext cx="274320" cy="914"/>
          </a:xfrm>
          <a:prstGeom prst="line">
            <a:avLst/>
          </a:prstGeom>
          <a:noFill/>
          <a:ln w="22225">
            <a:solidFill>
              <a:srgbClr val="9FB3D9"/>
            </a:solidFill>
            <a:prstDash val="solid"/>
            <a:tailEnd type="triangle"/>
          </a:ln>
        </p:spPr>
      </p:sp>
      <p:sp>
        <p:nvSpPr>
          <p:cNvPr id="12" name="motif-Decide"/>
          <p:cNvSpPr/>
          <p:nvPr/>
        </p:nvSpPr>
        <p:spPr>
          <a:xfrm>
            <a:off x="10652760" y="2788920"/>
            <a:ext cx="868680" cy="868680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652760" y="27889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0378440" y="379476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Decide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7818120" y="43434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ADCFC"/>
                </a:solidFill>
              </a:rPr>
              <a:t>Train the forecaster on the portfolio it produces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Why predict-then-optimize falls short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Two-stage (the benchmark)</a:t>
            </a:r>
            <a:endParaRPr lang="en-US" sz="1500" dirty="0"/>
          </a:p>
        </p:txBody>
      </p:sp>
      <p:sp>
        <p:nvSpPr>
          <p:cNvPr id="4" name="Two-stage (the benchmark)-Characteristics"/>
          <p:cNvSpPr/>
          <p:nvPr/>
        </p:nvSpPr>
        <p:spPr>
          <a:xfrm>
            <a:off x="548640" y="1783080"/>
            <a:ext cx="1060704" cy="566928"/>
          </a:xfrm>
          <a:prstGeom prst="roundRect">
            <a:avLst>
              <a:gd name="adj" fmla="val 967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783080"/>
            <a:ext cx="10607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Characteristics</a:t>
            </a:r>
            <a:endParaRPr lang="en-US" sz="1200" dirty="0"/>
          </a:p>
        </p:txBody>
      </p:sp>
      <p:sp>
        <p:nvSpPr>
          <p:cNvPr id="6" name="Two-stage (the benchmark)-a0"/>
          <p:cNvSpPr/>
          <p:nvPr/>
        </p:nvSpPr>
        <p:spPr>
          <a:xfrm>
            <a:off x="1627632" y="2066544"/>
            <a:ext cx="128016" cy="914"/>
          </a:xfrm>
          <a:prstGeom prst="line">
            <a:avLst/>
          </a:prstGeom>
          <a:noFill/>
          <a:ln w="22225">
            <a:solidFill>
              <a:srgbClr val="1F2A44"/>
            </a:solidFill>
            <a:prstDash val="solid"/>
            <a:tailEnd type="triangle"/>
          </a:ln>
        </p:spPr>
      </p:sp>
      <p:sp>
        <p:nvSpPr>
          <p:cNvPr id="7" name="Two-stage (the benchmark)-Model g(x; θ)"/>
          <p:cNvSpPr/>
          <p:nvPr/>
        </p:nvSpPr>
        <p:spPr>
          <a:xfrm>
            <a:off x="1773936" y="1783080"/>
            <a:ext cx="1060704" cy="566928"/>
          </a:xfrm>
          <a:prstGeom prst="roundRect">
            <a:avLst>
              <a:gd name="adj" fmla="val 967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773936" y="1783080"/>
            <a:ext cx="10607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Model g(x; θ)</a:t>
            </a:r>
            <a:endParaRPr lang="en-US" sz="1200" dirty="0"/>
          </a:p>
        </p:txBody>
      </p:sp>
      <p:sp>
        <p:nvSpPr>
          <p:cNvPr id="9" name="Two-stage (the benchmark)-a1"/>
          <p:cNvSpPr/>
          <p:nvPr/>
        </p:nvSpPr>
        <p:spPr>
          <a:xfrm>
            <a:off x="2852928" y="2066544"/>
            <a:ext cx="128016" cy="914"/>
          </a:xfrm>
          <a:prstGeom prst="line">
            <a:avLst/>
          </a:prstGeom>
          <a:noFill/>
          <a:ln w="22225">
            <a:solidFill>
              <a:srgbClr val="1F2A44"/>
            </a:solidFill>
            <a:prstDash val="solid"/>
            <a:tailEnd type="triangle"/>
          </a:ln>
        </p:spPr>
      </p:sp>
      <p:sp>
        <p:nvSpPr>
          <p:cNvPr id="10" name="Two-stage (the benchmark)-Forecast r̂"/>
          <p:cNvSpPr/>
          <p:nvPr/>
        </p:nvSpPr>
        <p:spPr>
          <a:xfrm>
            <a:off x="2999232" y="1783080"/>
            <a:ext cx="1060704" cy="566928"/>
          </a:xfrm>
          <a:prstGeom prst="roundRect">
            <a:avLst>
              <a:gd name="adj" fmla="val 967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999232" y="1783080"/>
            <a:ext cx="10607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Forecast r̂</a:t>
            </a:r>
            <a:endParaRPr lang="en-US" sz="1200" dirty="0"/>
          </a:p>
        </p:txBody>
      </p:sp>
      <p:sp>
        <p:nvSpPr>
          <p:cNvPr id="12" name="Two-stage (the benchmark)-a2"/>
          <p:cNvSpPr/>
          <p:nvPr/>
        </p:nvSpPr>
        <p:spPr>
          <a:xfrm>
            <a:off x="4078224" y="2066544"/>
            <a:ext cx="128016" cy="914"/>
          </a:xfrm>
          <a:prstGeom prst="line">
            <a:avLst/>
          </a:prstGeom>
          <a:noFill/>
          <a:ln w="22225">
            <a:solidFill>
              <a:srgbClr val="1F2A44"/>
            </a:solidFill>
            <a:prstDash val="solid"/>
            <a:tailEnd type="triangle"/>
          </a:ln>
        </p:spPr>
      </p:sp>
      <p:sp>
        <p:nvSpPr>
          <p:cNvPr id="13" name="Two-stage (the benchmark)-Optimizer"/>
          <p:cNvSpPr/>
          <p:nvPr/>
        </p:nvSpPr>
        <p:spPr>
          <a:xfrm>
            <a:off x="4224528" y="1783080"/>
            <a:ext cx="1060704" cy="566928"/>
          </a:xfrm>
          <a:prstGeom prst="roundRect">
            <a:avLst>
              <a:gd name="adj" fmla="val 967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224528" y="1783080"/>
            <a:ext cx="10607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Optimizer</a:t>
            </a:r>
            <a:endParaRPr lang="en-US" sz="1200" dirty="0"/>
          </a:p>
        </p:txBody>
      </p:sp>
      <p:sp>
        <p:nvSpPr>
          <p:cNvPr id="15" name="Two-stage (the benchmark)-a3"/>
          <p:cNvSpPr/>
          <p:nvPr/>
        </p:nvSpPr>
        <p:spPr>
          <a:xfrm>
            <a:off x="5303520" y="2066544"/>
            <a:ext cx="128016" cy="914"/>
          </a:xfrm>
          <a:prstGeom prst="line">
            <a:avLst/>
          </a:prstGeom>
          <a:noFill/>
          <a:ln w="22225">
            <a:solidFill>
              <a:srgbClr val="1F2A44"/>
            </a:solidFill>
            <a:prstDash val="solid"/>
            <a:tailEnd type="triangle"/>
          </a:ln>
        </p:spPr>
      </p:sp>
      <p:sp>
        <p:nvSpPr>
          <p:cNvPr id="16" name="Two-stage (the benchmark)-Portfolio w"/>
          <p:cNvSpPr/>
          <p:nvPr/>
        </p:nvSpPr>
        <p:spPr>
          <a:xfrm>
            <a:off x="5449824" y="1783080"/>
            <a:ext cx="1060704" cy="566928"/>
          </a:xfrm>
          <a:prstGeom prst="roundRect">
            <a:avLst>
              <a:gd name="adj" fmla="val 967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49824" y="1783080"/>
            <a:ext cx="10607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Portfolio w</a:t>
            </a:r>
            <a:endParaRPr lang="en-US" sz="1200" dirty="0"/>
          </a:p>
        </p:txBody>
      </p:sp>
      <p:sp>
        <p:nvSpPr>
          <p:cNvPr id="18" name="Two-stage (the benchmark)-loss"/>
          <p:cNvSpPr/>
          <p:nvPr/>
        </p:nvSpPr>
        <p:spPr>
          <a:xfrm>
            <a:off x="1115568" y="2606040"/>
            <a:ext cx="2377440" cy="502920"/>
          </a:xfrm>
          <a:prstGeom prst="roundRect">
            <a:avLst>
              <a:gd name="adj" fmla="val 10909"/>
            </a:avLst>
          </a:prstGeom>
          <a:solidFill>
            <a:srgbClr val="0E5E6F"/>
          </a:solidFill>
          <a:ln w="12700">
            <a:solidFill>
              <a:srgbClr val="0E5E6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115568" y="26060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Loss: MSE, every stock equal</a:t>
            </a:r>
            <a:endParaRPr lang="en-US" sz="1200" dirty="0"/>
          </a:p>
        </p:txBody>
      </p:sp>
      <p:sp>
        <p:nvSpPr>
          <p:cNvPr id="20" name="ts-feedback"/>
          <p:cNvSpPr/>
          <p:nvPr/>
        </p:nvSpPr>
        <p:spPr>
          <a:xfrm flipV="1">
            <a:off x="2304288" y="2368296"/>
            <a:ext cx="914" cy="237744"/>
          </a:xfrm>
          <a:prstGeom prst="line">
            <a:avLst/>
          </a:prstGeom>
          <a:noFill/>
          <a:ln w="22225">
            <a:solidFill>
              <a:srgbClr val="0E5E6F"/>
            </a:solidFill>
            <a:prstDash val="dash"/>
            <a:tailEnd type="triangle"/>
          </a:ln>
        </p:spPr>
      </p:sp>
      <p:sp>
        <p:nvSpPr>
          <p:cNvPr id="21" name="Text 19"/>
          <p:cNvSpPr txBox="1"/>
          <p:nvPr/>
        </p:nvSpPr>
        <p:spPr>
          <a:xfrm>
            <a:off x="548640" y="342900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End-to-end (the paper)</a:t>
            </a:r>
            <a:endParaRPr lang="en-US" sz="1500" dirty="0"/>
          </a:p>
        </p:txBody>
      </p:sp>
      <p:sp>
        <p:nvSpPr>
          <p:cNvPr id="22" name="End-to-end (the paper)-Characteristics"/>
          <p:cNvSpPr/>
          <p:nvPr/>
        </p:nvSpPr>
        <p:spPr>
          <a:xfrm>
            <a:off x="548640" y="3840480"/>
            <a:ext cx="1060704" cy="566928"/>
          </a:xfrm>
          <a:prstGeom prst="roundRect">
            <a:avLst>
              <a:gd name="adj" fmla="val 967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48640" y="3840480"/>
            <a:ext cx="10607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Characteristics</a:t>
            </a:r>
            <a:endParaRPr lang="en-US" sz="1200" dirty="0"/>
          </a:p>
        </p:txBody>
      </p:sp>
      <p:sp>
        <p:nvSpPr>
          <p:cNvPr id="24" name="End-to-end (the paper)-a0"/>
          <p:cNvSpPr/>
          <p:nvPr/>
        </p:nvSpPr>
        <p:spPr>
          <a:xfrm>
            <a:off x="1627632" y="4123944"/>
            <a:ext cx="128016" cy="914"/>
          </a:xfrm>
          <a:prstGeom prst="line">
            <a:avLst/>
          </a:prstGeom>
          <a:noFill/>
          <a:ln w="22225">
            <a:solidFill>
              <a:srgbClr val="1F2A44"/>
            </a:solidFill>
            <a:prstDash val="solid"/>
            <a:tailEnd type="triangle"/>
          </a:ln>
        </p:spPr>
      </p:sp>
      <p:sp>
        <p:nvSpPr>
          <p:cNvPr id="25" name="End-to-end (the paper)-Model g(x; θ)"/>
          <p:cNvSpPr/>
          <p:nvPr/>
        </p:nvSpPr>
        <p:spPr>
          <a:xfrm>
            <a:off x="1773936" y="3840480"/>
            <a:ext cx="1060704" cy="566928"/>
          </a:xfrm>
          <a:prstGeom prst="roundRect">
            <a:avLst>
              <a:gd name="adj" fmla="val 967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773936" y="3840480"/>
            <a:ext cx="10607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Model g(x; θ)</a:t>
            </a:r>
            <a:endParaRPr lang="en-US" sz="1200" dirty="0"/>
          </a:p>
        </p:txBody>
      </p:sp>
      <p:sp>
        <p:nvSpPr>
          <p:cNvPr id="27" name="End-to-end (the paper)-a1"/>
          <p:cNvSpPr/>
          <p:nvPr/>
        </p:nvSpPr>
        <p:spPr>
          <a:xfrm>
            <a:off x="2852928" y="4123944"/>
            <a:ext cx="128016" cy="914"/>
          </a:xfrm>
          <a:prstGeom prst="line">
            <a:avLst/>
          </a:prstGeom>
          <a:noFill/>
          <a:ln w="22225">
            <a:solidFill>
              <a:srgbClr val="1F2A44"/>
            </a:solidFill>
            <a:prstDash val="solid"/>
            <a:tailEnd type="triangle"/>
          </a:ln>
        </p:spPr>
      </p:sp>
      <p:sp>
        <p:nvSpPr>
          <p:cNvPr id="28" name="End-to-end (the paper)-Forecast r̂"/>
          <p:cNvSpPr/>
          <p:nvPr/>
        </p:nvSpPr>
        <p:spPr>
          <a:xfrm>
            <a:off x="2999232" y="3840480"/>
            <a:ext cx="1060704" cy="566928"/>
          </a:xfrm>
          <a:prstGeom prst="roundRect">
            <a:avLst>
              <a:gd name="adj" fmla="val 967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999232" y="3840480"/>
            <a:ext cx="10607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Forecast r̂</a:t>
            </a:r>
            <a:endParaRPr lang="en-US" sz="1200" dirty="0"/>
          </a:p>
        </p:txBody>
      </p:sp>
      <p:sp>
        <p:nvSpPr>
          <p:cNvPr id="30" name="End-to-end (the paper)-a2"/>
          <p:cNvSpPr/>
          <p:nvPr/>
        </p:nvSpPr>
        <p:spPr>
          <a:xfrm>
            <a:off x="4078224" y="4123944"/>
            <a:ext cx="128016" cy="914"/>
          </a:xfrm>
          <a:prstGeom prst="line">
            <a:avLst/>
          </a:prstGeom>
          <a:noFill/>
          <a:ln w="22225">
            <a:solidFill>
              <a:srgbClr val="1F2A44"/>
            </a:solidFill>
            <a:prstDash val="solid"/>
            <a:tailEnd type="triangle"/>
          </a:ln>
        </p:spPr>
      </p:sp>
      <p:sp>
        <p:nvSpPr>
          <p:cNvPr id="31" name="End-to-end (the paper)-Optimizer"/>
          <p:cNvSpPr/>
          <p:nvPr/>
        </p:nvSpPr>
        <p:spPr>
          <a:xfrm>
            <a:off x="4224528" y="3840480"/>
            <a:ext cx="1060704" cy="566928"/>
          </a:xfrm>
          <a:prstGeom prst="roundRect">
            <a:avLst>
              <a:gd name="adj" fmla="val 9677"/>
            </a:avLst>
          </a:prstGeom>
          <a:solidFill>
            <a:srgbClr val="FCEBE3"/>
          </a:solidFill>
          <a:ln w="12700">
            <a:solidFill>
              <a:srgbClr val="FCEBE3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224528" y="3840480"/>
            <a:ext cx="10607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Optimizer</a:t>
            </a:r>
            <a:endParaRPr lang="en-US" sz="1200" dirty="0"/>
          </a:p>
        </p:txBody>
      </p:sp>
      <p:sp>
        <p:nvSpPr>
          <p:cNvPr id="33" name="End-to-end (the paper)-a3"/>
          <p:cNvSpPr/>
          <p:nvPr/>
        </p:nvSpPr>
        <p:spPr>
          <a:xfrm>
            <a:off x="5303520" y="4123944"/>
            <a:ext cx="128016" cy="914"/>
          </a:xfrm>
          <a:prstGeom prst="line">
            <a:avLst/>
          </a:prstGeom>
          <a:noFill/>
          <a:ln w="22225">
            <a:solidFill>
              <a:srgbClr val="1F2A44"/>
            </a:solidFill>
            <a:prstDash val="solid"/>
            <a:tailEnd type="triangle"/>
          </a:ln>
        </p:spPr>
      </p:sp>
      <p:sp>
        <p:nvSpPr>
          <p:cNvPr id="34" name="End-to-end (the paper)-Portfolio w"/>
          <p:cNvSpPr/>
          <p:nvPr/>
        </p:nvSpPr>
        <p:spPr>
          <a:xfrm>
            <a:off x="5449824" y="3840480"/>
            <a:ext cx="1060704" cy="566928"/>
          </a:xfrm>
          <a:prstGeom prst="roundRect">
            <a:avLst>
              <a:gd name="adj" fmla="val 967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449824" y="3840480"/>
            <a:ext cx="10607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Portfolio w</a:t>
            </a:r>
            <a:endParaRPr lang="en-US" sz="1200" dirty="0"/>
          </a:p>
        </p:txBody>
      </p:sp>
      <p:sp>
        <p:nvSpPr>
          <p:cNvPr id="36" name="End-to-end (the paper)-loss"/>
          <p:cNvSpPr/>
          <p:nvPr/>
        </p:nvSpPr>
        <p:spPr>
          <a:xfrm>
            <a:off x="4133088" y="4663440"/>
            <a:ext cx="2377440" cy="502920"/>
          </a:xfrm>
          <a:prstGeom prst="roundRect">
            <a:avLst>
              <a:gd name="adj" fmla="val 10909"/>
            </a:avLst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133088" y="46634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Loss: realized portfolio return</a:t>
            </a:r>
            <a:endParaRPr lang="en-US" sz="1200" dirty="0"/>
          </a:p>
        </p:txBody>
      </p:sp>
      <p:sp>
        <p:nvSpPr>
          <p:cNvPr id="38" name="e2e-up"/>
          <p:cNvSpPr/>
          <p:nvPr/>
        </p:nvSpPr>
        <p:spPr>
          <a:xfrm flipV="1">
            <a:off x="5980176" y="4425696"/>
            <a:ext cx="914" cy="237744"/>
          </a:xfrm>
          <a:prstGeom prst="line">
            <a:avLst/>
          </a:prstGeom>
          <a:noFill/>
          <a:ln w="22225">
            <a:solidFill>
              <a:srgbClr val="EB6834"/>
            </a:solidFill>
            <a:prstDash val="dash"/>
            <a:tailEnd type="triangle"/>
          </a:ln>
        </p:spPr>
      </p:sp>
      <p:sp>
        <p:nvSpPr>
          <p:cNvPr id="39" name="e2e-back"/>
          <p:cNvSpPr/>
          <p:nvPr/>
        </p:nvSpPr>
        <p:spPr>
          <a:xfrm flipH="1">
            <a:off x="2304288" y="4910328"/>
            <a:ext cx="1828800" cy="914"/>
          </a:xfrm>
          <a:prstGeom prst="line">
            <a:avLst/>
          </a:prstGeom>
          <a:noFill/>
          <a:ln w="22225">
            <a:solidFill>
              <a:srgbClr val="EB6834"/>
            </a:solidFill>
            <a:prstDash val="dash"/>
            <a:tailEnd type="triangle"/>
          </a:ln>
        </p:spPr>
      </p:sp>
      <p:sp>
        <p:nvSpPr>
          <p:cNvPr id="40" name="Text 38"/>
          <p:cNvSpPr txBox="1"/>
          <p:nvPr/>
        </p:nvSpPr>
        <p:spPr>
          <a:xfrm>
            <a:off x="1737360" y="49834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2514E"/>
                </a:solidFill>
              </a:rPr>
              <a:t>gradients flow back through the optimizer</a:t>
            </a:r>
            <a:endParaRPr lang="en-US" sz="1100" dirty="0"/>
          </a:p>
        </p:txBody>
      </p:sp>
      <p:sp>
        <p:nvSpPr>
          <p:cNvPr id="41" name="example-card"/>
          <p:cNvSpPr/>
          <p:nvPr/>
        </p:nvSpPr>
        <p:spPr>
          <a:xfrm>
            <a:off x="6903720" y="1371600"/>
            <a:ext cx="4754880" cy="4160520"/>
          </a:xfrm>
          <a:prstGeom prst="roundRect">
            <a:avLst>
              <a:gd name="adj" fmla="val 1758"/>
            </a:avLst>
          </a:prstGeom>
          <a:solidFill>
            <a:srgbClr val="E2EFF0"/>
          </a:solidFill>
          <a:ln w="12700">
            <a:solidFill>
              <a:srgbClr val="E2EFF0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7132320" y="153619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The paper's example, reproduced exactly</a:t>
            </a:r>
            <a:endParaRPr lang="en-US" sz="1600" dirty="0"/>
          </a:p>
        </p:txBody>
      </p:sp>
      <p:sp>
        <p:nvSpPr>
          <p:cNvPr id="43" name="Text 41"/>
          <p:cNvSpPr txBox="1"/>
          <p:nvPr/>
        </p:nvSpPr>
        <p:spPr>
          <a:xfrm>
            <a:off x="7132320" y="187452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</a:rPr>
              <a:t>Realized utility (%) of mean-variance portfolios built from three pricing models</a:t>
            </a:r>
            <a:endParaRPr lang="en-US" sz="1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32320" y="2514600"/>
          <a:ext cx="429768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960120"/>
                <a:gridCol w="960120"/>
                <a:gridCol w="96012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Investor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3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OLS (best fit)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3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pro-large-cap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3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pro-small-cap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3E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risk-averse, η = 10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31.97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EB6834"/>
                          </a:solidFill>
                        </a:rPr>
                        <a:t>32.01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31.90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risk-tolerant, η = 1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62.84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62.53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EB6834"/>
                          </a:solidFill>
                        </a:rPr>
                        <a:t>62.90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B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5" name="Text 42"/>
          <p:cNvSpPr txBox="1"/>
          <p:nvPr/>
        </p:nvSpPr>
        <p:spPr>
          <a:xfrm>
            <a:off x="7132320" y="3977640"/>
            <a:ext cx="4297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The model with the lowest MSE is best for neither investor.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Accuracy matters most where the portfolio puts its weight, and that depends on the investor.</a:t>
            </a:r>
            <a:endParaRPr lang="en-US" sz="1300" dirty="0"/>
          </a:p>
        </p:txBody>
      </p:sp>
      <p:sp>
        <p:nvSpPr>
          <p:cNvPr id="46" name="Text 43"/>
          <p:cNvSpPr txBox="1"/>
          <p:nvPr/>
        </p:nvSpPr>
        <p:spPr>
          <a:xfrm>
            <a:off x="548640" y="57607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2514E"/>
                </a:solidFill>
              </a:rPr>
              <a:t>Our check: OLS fit [0.652, 0.927] and all six utilities match the paper (OLS without intercept).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9878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Methodology: learning through the optimizer</a:t>
            </a:r>
            <a:endParaRPr lang="en-US" sz="3200" dirty="0"/>
          </a:p>
        </p:txBody>
      </p:sp>
      <p:sp>
        <p:nvSpPr>
          <p:cNvPr id="3" name="method-mse"/>
          <p:cNvSpPr/>
          <p:nvPr/>
        </p:nvSpPr>
        <p:spPr>
          <a:xfrm>
            <a:off x="548640" y="1325880"/>
            <a:ext cx="6583680" cy="1463040"/>
          </a:xfrm>
          <a:prstGeom prst="roundRect">
            <a:avLst>
              <a:gd name="adj" fmla="val 5000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490472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Benchmark: fit, then optimize</a:t>
            </a:r>
            <a:endParaRPr lang="en-US" sz="1600" dirty="0"/>
          </a:p>
        </p:txBody>
      </p:sp>
      <p:pic>
        <p:nvPicPr>
          <p:cNvPr id="5" name="Image 0" descr="Equation: ms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892808"/>
            <a:ext cx="2531683" cy="5029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7240" y="2423160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</a:rPr>
              <a:t>Linear or NN1–NN5, Adam, early stopping; deciles of r̂ each day</a:t>
            </a:r>
            <a:endParaRPr lang="en-US" sz="1200" dirty="0"/>
          </a:p>
        </p:txBody>
      </p:sp>
      <p:sp>
        <p:nvSpPr>
          <p:cNvPr id="7" name="method-lower"/>
          <p:cNvSpPr/>
          <p:nvPr/>
        </p:nvSpPr>
        <p:spPr>
          <a:xfrm>
            <a:off x="548640" y="2953512"/>
            <a:ext cx="6583680" cy="1463040"/>
          </a:xfrm>
          <a:prstGeom prst="roundRect">
            <a:avLst>
              <a:gd name="adj" fmla="val 5000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3118104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Lower level: the portfolio layer</a:t>
            </a:r>
            <a:endParaRPr lang="en-US" sz="1600" dirty="0"/>
          </a:p>
        </p:txBody>
      </p:sp>
      <p:pic>
        <p:nvPicPr>
          <p:cNvPr id="9" name="Image 1" descr="Equation: low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520440"/>
            <a:ext cx="4521003" cy="5029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77240" y="4050792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</a:rPr>
              <a:t>Cap u = 1/(10% of N): with ζ and γ at zero this is the equal-weight top decile</a:t>
            </a:r>
            <a:endParaRPr lang="en-US" sz="1200" dirty="0"/>
          </a:p>
        </p:txBody>
      </p:sp>
      <p:sp>
        <p:nvSpPr>
          <p:cNvPr id="11" name="method-upper"/>
          <p:cNvSpPr/>
          <p:nvPr/>
        </p:nvSpPr>
        <p:spPr>
          <a:xfrm>
            <a:off x="548640" y="4581144"/>
            <a:ext cx="6583680" cy="1463040"/>
          </a:xfrm>
          <a:prstGeom prst="roundRect">
            <a:avLst>
              <a:gd name="adj" fmla="val 5000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777240" y="4745736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Upper level: learn θ for the decision</a:t>
            </a:r>
            <a:endParaRPr lang="en-US" sz="1600" dirty="0"/>
          </a:p>
        </p:txBody>
      </p:sp>
      <p:pic>
        <p:nvPicPr>
          <p:cNvPr id="13" name="Image 2" descr="Equation: uppe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5148072"/>
            <a:ext cx="4946535" cy="5029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77240" y="5678424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</a:rPr>
              <a:t>ζ smooths the linear program; γ is the transaction cost rate</a:t>
            </a:r>
            <a:endParaRPr lang="en-US" sz="1200" dirty="0"/>
          </a:p>
        </p:txBody>
      </p:sp>
      <p:sp>
        <p:nvSpPr>
          <p:cNvPr id="15" name="layer-card"/>
          <p:cNvSpPr/>
          <p:nvPr/>
        </p:nvSpPr>
        <p:spPr>
          <a:xfrm>
            <a:off x="7406640" y="1325880"/>
            <a:ext cx="4251960" cy="4882896"/>
          </a:xfrm>
          <a:prstGeom prst="roundRect">
            <a:avLst>
              <a:gd name="adj" fmla="val 1720"/>
            </a:avLst>
          </a:prstGeom>
          <a:solidFill>
            <a:srgbClr val="E2EFF0"/>
          </a:solidFill>
          <a:ln w="12700">
            <a:solidFill>
              <a:srgbClr val="E2EFF0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7635240" y="1490472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Our exact layer (replaces KKT solvers)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7635240" y="18288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</a:rPr>
              <a:t>The problem is separable up to the budget, so one threshold τ solves it:</a:t>
            </a:r>
            <a:endParaRPr lang="en-US" sz="1200" dirty="0"/>
          </a:p>
        </p:txBody>
      </p:sp>
      <p:pic>
        <p:nvPicPr>
          <p:cNvPr id="18" name="Image 3" descr="Equation: laye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5240" y="2377440"/>
            <a:ext cx="3600514" cy="359231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635240" y="292608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</a:rPr>
              <a:t>S is a soft threshold around yesterday's weight p. On the free stocks F:</a:t>
            </a:r>
            <a:endParaRPr lang="en-US" sz="1200" dirty="0"/>
          </a:p>
        </p:txBody>
      </p:sp>
      <p:pic>
        <p:nvPicPr>
          <p:cNvPr id="20" name="Image 4" descr="Equation: jacobia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35240" y="3474720"/>
            <a:ext cx="2182014" cy="544196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7635240" y="4251960"/>
            <a:ext cx="3794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O(N) backward pass on the GPU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Solution never worse than a generic solver (gap &lt; 1e-17)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Gradient matches finite differences (error ~1e-11)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9878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Machine learning at each stage, and why</a:t>
            </a:r>
            <a:endParaRPr lang="en-US" sz="3200" dirty="0"/>
          </a:p>
        </p:txBody>
      </p:sp>
      <p:sp>
        <p:nvSpPr>
          <p:cNvPr id="3" name="ml-0"/>
          <p:cNvSpPr/>
          <p:nvPr/>
        </p:nvSpPr>
        <p:spPr>
          <a:xfrm>
            <a:off x="548640" y="1325880"/>
            <a:ext cx="3520440" cy="2286000"/>
          </a:xfrm>
          <a:prstGeom prst="roundRect">
            <a:avLst>
              <a:gd name="adj" fmla="val 3200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4" name="ml-num-0"/>
          <p:cNvSpPr/>
          <p:nvPr/>
        </p:nvSpPr>
        <p:spPr>
          <a:xfrm>
            <a:off x="749808" y="1508760"/>
            <a:ext cx="457200" cy="457200"/>
          </a:xfrm>
          <a:prstGeom prst="ellipse">
            <a:avLst/>
          </a:prstGeom>
          <a:solidFill>
            <a:srgbClr val="0E5E6F"/>
          </a:solidFill>
          <a:ln w="12700">
            <a:solidFill>
              <a:srgbClr val="0E5E6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9808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545336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Prediction layer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1031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Linear and NN1–NN5 (32-16-8-4-2); LayerNorm, ReLU, BatchNorm, 5% dropout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92608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Why: </a:t>
            </a:r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</a:rPr>
              <a:t>Benchmark architectures of Gu, Kelly &amp; Xiu; small nets resist daily noise</a:t>
            </a:r>
            <a:endParaRPr lang="en-US" sz="1200" dirty="0"/>
          </a:p>
        </p:txBody>
      </p:sp>
      <p:sp>
        <p:nvSpPr>
          <p:cNvPr id="9" name="ml-1"/>
          <p:cNvSpPr/>
          <p:nvPr/>
        </p:nvSpPr>
        <p:spPr>
          <a:xfrm>
            <a:off x="4297680" y="1325880"/>
            <a:ext cx="3520440" cy="2286000"/>
          </a:xfrm>
          <a:prstGeom prst="roundRect">
            <a:avLst>
              <a:gd name="adj" fmla="val 3200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0" name="ml-num-1"/>
          <p:cNvSpPr/>
          <p:nvPr/>
        </p:nvSpPr>
        <p:spPr>
          <a:xfrm>
            <a:off x="4498848" y="1508760"/>
            <a:ext cx="457200" cy="457200"/>
          </a:xfrm>
          <a:prstGeom prst="ellipse">
            <a:avLst/>
          </a:prstGeom>
          <a:solidFill>
            <a:srgbClr val="0E5E6F"/>
          </a:solidFill>
          <a:ln w="12700">
            <a:solidFill>
              <a:srgbClr val="0E5E6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498848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074920" y="1545336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Training objective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526280" y="21031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MSE for the two-stage model; realized portfolio return for E2E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526280" y="292608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Why: </a:t>
            </a:r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</a:rPr>
              <a:t>Puts accuracy where the long-only portfolio puts its weight</a:t>
            </a:r>
            <a:endParaRPr lang="en-US" sz="1200" dirty="0"/>
          </a:p>
        </p:txBody>
      </p:sp>
      <p:sp>
        <p:nvSpPr>
          <p:cNvPr id="15" name="ml-2"/>
          <p:cNvSpPr/>
          <p:nvPr/>
        </p:nvSpPr>
        <p:spPr>
          <a:xfrm>
            <a:off x="8046720" y="1325880"/>
            <a:ext cx="3520440" cy="2286000"/>
          </a:xfrm>
          <a:prstGeom prst="roundRect">
            <a:avLst>
              <a:gd name="adj" fmla="val 3200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6" name="ml-num-2"/>
          <p:cNvSpPr/>
          <p:nvPr/>
        </p:nvSpPr>
        <p:spPr>
          <a:xfrm>
            <a:off x="8247888" y="1508760"/>
            <a:ext cx="457200" cy="457200"/>
          </a:xfrm>
          <a:prstGeom prst="ellipse">
            <a:avLst/>
          </a:prstGeom>
          <a:solidFill>
            <a:srgbClr val="0E5E6F"/>
          </a:solidFill>
          <a:ln w="12700">
            <a:solidFill>
              <a:srgbClr val="0E5E6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47888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823960" y="1545336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Optimization layer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8275320" y="21031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Smoothed top-decile program with a transaction-cost penalty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8275320" y="292608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Why: </a:t>
            </a:r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</a:rPr>
              <a:t>Gradients through argmin; ζ makes the solution Lipschitz</a:t>
            </a:r>
            <a:endParaRPr lang="en-US" sz="1200" dirty="0"/>
          </a:p>
        </p:txBody>
      </p:sp>
      <p:sp>
        <p:nvSpPr>
          <p:cNvPr id="21" name="ml-3"/>
          <p:cNvSpPr/>
          <p:nvPr/>
        </p:nvSpPr>
        <p:spPr>
          <a:xfrm>
            <a:off x="548640" y="3840480"/>
            <a:ext cx="3520440" cy="2286000"/>
          </a:xfrm>
          <a:prstGeom prst="roundRect">
            <a:avLst>
              <a:gd name="adj" fmla="val 3200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2" name="ml-num-3"/>
          <p:cNvSpPr/>
          <p:nvPr/>
        </p:nvSpPr>
        <p:spPr>
          <a:xfrm>
            <a:off x="749808" y="4023360"/>
            <a:ext cx="457200" cy="457200"/>
          </a:xfrm>
          <a:prstGeom prst="ellipse">
            <a:avLst/>
          </a:prstGeom>
          <a:solidFill>
            <a:srgbClr val="0E5E6F"/>
          </a:solidFill>
          <a:ln w="12700">
            <a:solidFill>
              <a:srgbClr val="0E5E6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49808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325880" y="4059936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Training protocol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777240" y="46177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Adam, early stopping (patience 10); E2E warm-started from MSE; 8-day batches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777240" y="544068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Why: </a:t>
            </a:r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</a:rPr>
              <a:t>Stable and fast; days kept in order when costs link them</a:t>
            </a:r>
            <a:endParaRPr lang="en-US" sz="1200" dirty="0"/>
          </a:p>
        </p:txBody>
      </p:sp>
      <p:sp>
        <p:nvSpPr>
          <p:cNvPr id="27" name="ml-4"/>
          <p:cNvSpPr/>
          <p:nvPr/>
        </p:nvSpPr>
        <p:spPr>
          <a:xfrm>
            <a:off x="4297680" y="3840480"/>
            <a:ext cx="3520440" cy="2286000"/>
          </a:xfrm>
          <a:prstGeom prst="roundRect">
            <a:avLst>
              <a:gd name="adj" fmla="val 3200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8" name="ml-num-4"/>
          <p:cNvSpPr/>
          <p:nvPr/>
        </p:nvSpPr>
        <p:spPr>
          <a:xfrm>
            <a:off x="4498848" y="4023360"/>
            <a:ext cx="457200" cy="457200"/>
          </a:xfrm>
          <a:prstGeom prst="ellipse">
            <a:avLst/>
          </a:prstGeom>
          <a:solidFill>
            <a:srgbClr val="0E5E6F"/>
          </a:solidFill>
          <a:ln w="12700">
            <a:solidFill>
              <a:srgbClr val="0E5E6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498848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5074920" y="4059936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Validation design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4526280" y="46177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39m / 9m / 3m rolling windows, 2-day embargo, all choices on validation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4526280" y="544068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Why: </a:t>
            </a:r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</a:rPr>
              <a:t>No look-ahead: the test quarter is never used to choose anything</a:t>
            </a:r>
            <a:endParaRPr lang="en-US" sz="1200" dirty="0"/>
          </a:p>
        </p:txBody>
      </p:sp>
      <p:sp>
        <p:nvSpPr>
          <p:cNvPr id="33" name="ml-5"/>
          <p:cNvSpPr/>
          <p:nvPr/>
        </p:nvSpPr>
        <p:spPr>
          <a:xfrm>
            <a:off x="8046720" y="3840480"/>
            <a:ext cx="3520440" cy="2286000"/>
          </a:xfrm>
          <a:prstGeom prst="roundRect">
            <a:avLst>
              <a:gd name="adj" fmla="val 3200"/>
            </a:avLst>
          </a:prstGeom>
          <a:solidFill>
            <a:srgbClr val="FCEBE3"/>
          </a:solidFill>
          <a:ln w="12700">
            <a:solidFill>
              <a:srgbClr val="FCEBE3"/>
            </a:solidFill>
            <a:prstDash val="solid"/>
          </a:ln>
        </p:spPr>
      </p:sp>
      <p:sp>
        <p:nvSpPr>
          <p:cNvPr id="34" name="ml-num-5"/>
          <p:cNvSpPr/>
          <p:nvPr/>
        </p:nvSpPr>
        <p:spPr>
          <a:xfrm>
            <a:off x="8247888" y="4023360"/>
            <a:ext cx="457200" cy="457200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247888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8823960" y="4059936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Our models</a:t>
            </a:r>
            <a:endParaRPr lang="en-US" sz="1600" dirty="0"/>
          </a:p>
        </p:txBody>
      </p:sp>
      <p:sp>
        <p:nvSpPr>
          <p:cNvPr id="37" name="Text 35"/>
          <p:cNvSpPr txBox="1"/>
          <p:nvPr/>
        </p:nvSpPr>
        <p:spPr>
          <a:xfrm>
            <a:off x="8275320" y="461772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Ridge, PCR, PLS, LDA, GMM experts, SVR, decision-aware PCA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8275320" y="5440680"/>
            <a:ext cx="3108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Why: </a:t>
            </a:r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</a:rPr>
              <a:t>Regularize 251 collinear features; test reduction chosen by the decision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9878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Auditing the paper: what doesn't add up</a:t>
            </a:r>
            <a:endParaRPr lang="en-US" sz="3200" dirty="0"/>
          </a:p>
        </p:txBody>
      </p:sp>
      <p:sp>
        <p:nvSpPr>
          <p:cNvPr id="3" name="stat-0"/>
          <p:cNvSpPr/>
          <p:nvPr/>
        </p:nvSpPr>
        <p:spPr>
          <a:xfrm>
            <a:off x="548640" y="1325880"/>
            <a:ext cx="2606040" cy="1783080"/>
          </a:xfrm>
          <a:prstGeom prst="roundRect">
            <a:avLst>
              <a:gd name="adj" fmla="val 4103"/>
            </a:avLst>
          </a:prstGeom>
          <a:solidFill>
            <a:srgbClr val="FCEBE3"/>
          </a:solidFill>
          <a:ln w="12700">
            <a:solidFill>
              <a:srgbClr val="FCEBE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49808" y="146304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11.2M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749808" y="224028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</a:rPr>
              <a:t>stock-days implied by Table A.1; the text reports 5.96M</a:t>
            </a:r>
            <a:endParaRPr lang="en-US" sz="1200" dirty="0"/>
          </a:p>
        </p:txBody>
      </p:sp>
      <p:sp>
        <p:nvSpPr>
          <p:cNvPr id="6" name="stat-1"/>
          <p:cNvSpPr/>
          <p:nvPr/>
        </p:nvSpPr>
        <p:spPr>
          <a:xfrm>
            <a:off x="3383280" y="1325880"/>
            <a:ext cx="2606040" cy="1783080"/>
          </a:xfrm>
          <a:prstGeom prst="roundRect">
            <a:avLst>
              <a:gd name="adj" fmla="val 4103"/>
            </a:avLst>
          </a:prstGeom>
          <a:solidFill>
            <a:srgbClr val="FCEBE3"/>
          </a:solidFill>
          <a:ln w="12700">
            <a:solidFill>
              <a:srgbClr val="FCEBE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584448" y="146304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53.35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3584448" y="224028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</a:rPr>
              <a:t>NN3-E2E long-short return implied by its own H and L; 54.9 is reported</a:t>
            </a:r>
            <a:endParaRPr lang="en-US" sz="1200" dirty="0"/>
          </a:p>
        </p:txBody>
      </p:sp>
      <p:sp>
        <p:nvSpPr>
          <p:cNvPr id="9" name="stat-2"/>
          <p:cNvSpPr/>
          <p:nvPr/>
        </p:nvSpPr>
        <p:spPr>
          <a:xfrm>
            <a:off x="6217920" y="1325880"/>
            <a:ext cx="2606040" cy="1783080"/>
          </a:xfrm>
          <a:prstGeom prst="roundRect">
            <a:avLst>
              <a:gd name="adj" fmla="val 4103"/>
            </a:avLst>
          </a:prstGeom>
          <a:solidFill>
            <a:srgbClr val="FCEBE3"/>
          </a:solidFill>
          <a:ln w="12700">
            <a:solidFill>
              <a:srgbClr val="FCEBE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19088" y="146304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 = 0.08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6419088" y="224028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</a:rPr>
              <a:t>two-sided, for t = 1.74, which the paper marks significant at 5%</a:t>
            </a:r>
            <a:endParaRPr lang="en-US" sz="1200" dirty="0"/>
          </a:p>
        </p:txBody>
      </p:sp>
      <p:sp>
        <p:nvSpPr>
          <p:cNvPr id="12" name="stat-3"/>
          <p:cNvSpPr/>
          <p:nvPr/>
        </p:nvSpPr>
        <p:spPr>
          <a:xfrm>
            <a:off x="9052560" y="1325880"/>
            <a:ext cx="2606040" cy="1783080"/>
          </a:xfrm>
          <a:prstGeom prst="roundRect">
            <a:avLst>
              <a:gd name="adj" fmla="val 4103"/>
            </a:avLst>
          </a:prstGeom>
          <a:solidFill>
            <a:srgbClr val="FCEBE3"/>
          </a:solidFill>
          <a:ln w="12700">
            <a:solidFill>
              <a:srgbClr val="FCEBE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253728" y="146304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EB68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−0.04%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9253728" y="224028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</a:rPr>
              <a:t>2017Q1 top-decile daily return once untradeable stocks are excluded (+0.76% with them)</a:t>
            </a:r>
            <a:endParaRPr lang="en-US" sz="1200" dirty="0"/>
          </a:p>
        </p:txBody>
      </p:sp>
      <p:sp>
        <p:nvSpPr>
          <p:cNvPr id="15" name="conv-card"/>
          <p:cNvSpPr/>
          <p:nvPr/>
        </p:nvSpPr>
        <p:spPr>
          <a:xfrm>
            <a:off x="548640" y="3383280"/>
            <a:ext cx="5440680" cy="2377440"/>
          </a:xfrm>
          <a:prstGeom prst="roundRect">
            <a:avLst>
              <a:gd name="adj" fmla="val 3077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354787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Conventions recovered from the tables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3886200"/>
            <a:ext cx="5029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H–L is (H − L)/2 in every cell but one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Cost = γ × one-sided turnover ½‖Δw‖₁ (matches Table 3 to 0.2 pp)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Annualized with about 243 trading days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Drawdowns on cumulative sums; length in calendar days</a:t>
            </a:r>
            <a:endParaRPr lang="en-US" sz="1400" dirty="0"/>
          </a:p>
        </p:txBody>
      </p:sp>
      <p:sp>
        <p:nvSpPr>
          <p:cNvPr id="18" name="fix-card"/>
          <p:cNvSpPr/>
          <p:nvPr/>
        </p:nvSpPr>
        <p:spPr>
          <a:xfrm>
            <a:off x="6217920" y="3383280"/>
            <a:ext cx="5440680" cy="2377440"/>
          </a:xfrm>
          <a:prstGeom prst="roundRect">
            <a:avLst>
              <a:gd name="adj" fmla="val 3077"/>
            </a:avLst>
          </a:prstGeom>
          <a:solidFill>
            <a:srgbClr val="E2EFF0"/>
          </a:solidFill>
          <a:ln w="12700">
            <a:solidFill>
              <a:srgbClr val="E2EFF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46520" y="354787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Our fixes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446520" y="3886200"/>
            <a:ext cx="5029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Smoothing ζ‖w‖² squared and tuned (paper: unsquared, ζ unreported)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Daily rebalancing, despite "quarterly" captions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Two-day embargo at every train / validation / test boundary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Tradability: drop new listings and stocks locked at the upper limit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Tuned MSE-Opt benchmark; one- and two-sided tests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9878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Our extensions: dimension reduction for the decision</a:t>
            </a:r>
            <a:endParaRPr lang="en-US" sz="3200" dirty="0"/>
          </a:p>
        </p:txBody>
      </p:sp>
      <p:sp>
        <p:nvSpPr>
          <p:cNvPr id="3" name="pipe-0"/>
          <p:cNvSpPr/>
          <p:nvPr/>
        </p:nvSpPr>
        <p:spPr>
          <a:xfrm>
            <a:off x="548640" y="1371600"/>
            <a:ext cx="2468880" cy="68580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37160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251 features</a:t>
            </a:r>
            <a:endParaRPr lang="en-US" sz="1500" dirty="0"/>
          </a:p>
        </p:txBody>
      </p:sp>
      <p:sp>
        <p:nvSpPr>
          <p:cNvPr id="5" name="pipe-a0"/>
          <p:cNvSpPr/>
          <p:nvPr/>
        </p:nvSpPr>
        <p:spPr>
          <a:xfrm>
            <a:off x="3063240" y="1714500"/>
            <a:ext cx="274320" cy="914"/>
          </a:xfrm>
          <a:prstGeom prst="line">
            <a:avLst/>
          </a:prstGeom>
          <a:noFill/>
          <a:ln w="22225">
            <a:solidFill>
              <a:srgbClr val="1F2A44"/>
            </a:solidFill>
            <a:prstDash val="solid"/>
            <a:tailEnd type="triangle"/>
          </a:ln>
        </p:spPr>
      </p:sp>
      <p:sp>
        <p:nvSpPr>
          <p:cNvPr id="6" name="pipe-1"/>
          <p:cNvSpPr/>
          <p:nvPr/>
        </p:nvSpPr>
        <p:spPr>
          <a:xfrm>
            <a:off x="3383280" y="1371600"/>
            <a:ext cx="2468880" cy="685800"/>
          </a:xfrm>
          <a:prstGeom prst="roundRect">
            <a:avLst>
              <a:gd name="adj" fmla="val 8000"/>
            </a:avLst>
          </a:prstGeom>
          <a:solidFill>
            <a:srgbClr val="FCEBE3"/>
          </a:solidFill>
          <a:ln w="12700">
            <a:solidFill>
              <a:srgbClr val="FCEBE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383280" y="137160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Reduction</a:t>
            </a:r>
            <a:endParaRPr lang="en-US" sz="1500" dirty="0"/>
          </a:p>
        </p:txBody>
      </p:sp>
      <p:sp>
        <p:nvSpPr>
          <p:cNvPr id="8" name="pipe-a1"/>
          <p:cNvSpPr/>
          <p:nvPr/>
        </p:nvSpPr>
        <p:spPr>
          <a:xfrm>
            <a:off x="5897880" y="1714500"/>
            <a:ext cx="274320" cy="914"/>
          </a:xfrm>
          <a:prstGeom prst="line">
            <a:avLst/>
          </a:prstGeom>
          <a:noFill/>
          <a:ln w="22225">
            <a:solidFill>
              <a:srgbClr val="1F2A44"/>
            </a:solidFill>
            <a:prstDash val="solid"/>
            <a:tailEnd type="triangle"/>
          </a:ln>
        </p:spPr>
      </p:sp>
      <p:sp>
        <p:nvSpPr>
          <p:cNvPr id="9" name="pipe-2"/>
          <p:cNvSpPr/>
          <p:nvPr/>
        </p:nvSpPr>
        <p:spPr>
          <a:xfrm>
            <a:off x="6217920" y="1371600"/>
            <a:ext cx="2468880" cy="68580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0" y="137160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Model</a:t>
            </a:r>
            <a:endParaRPr lang="en-US" sz="1500" dirty="0"/>
          </a:p>
        </p:txBody>
      </p:sp>
      <p:sp>
        <p:nvSpPr>
          <p:cNvPr id="11" name="pipe-a2"/>
          <p:cNvSpPr/>
          <p:nvPr/>
        </p:nvSpPr>
        <p:spPr>
          <a:xfrm>
            <a:off x="8732520" y="1714500"/>
            <a:ext cx="274320" cy="914"/>
          </a:xfrm>
          <a:prstGeom prst="line">
            <a:avLst/>
          </a:prstGeom>
          <a:noFill/>
          <a:ln w="22225">
            <a:solidFill>
              <a:srgbClr val="1F2A44"/>
            </a:solidFill>
            <a:prstDash val="solid"/>
            <a:tailEnd type="triangle"/>
          </a:ln>
        </p:spPr>
      </p:sp>
      <p:sp>
        <p:nvSpPr>
          <p:cNvPr id="12" name="pipe-3"/>
          <p:cNvSpPr/>
          <p:nvPr/>
        </p:nvSpPr>
        <p:spPr>
          <a:xfrm>
            <a:off x="9052560" y="1371600"/>
            <a:ext cx="2468880" cy="68580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052560" y="137160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Portfolio layer</a:t>
            </a:r>
            <a:endParaRPr lang="en-US" sz="1500" dirty="0"/>
          </a:p>
        </p:txBody>
      </p:sp>
      <p:sp>
        <p:nvSpPr>
          <p:cNvPr id="14" name="ext-pcr"/>
          <p:cNvSpPr/>
          <p:nvPr/>
        </p:nvSpPr>
        <p:spPr>
          <a:xfrm>
            <a:off x="548640" y="237744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254203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PCA (unsupervised)</a:t>
            </a:r>
            <a:endParaRPr lang="en-US" sz="1600" dirty="0"/>
          </a:p>
        </p:txBody>
      </p:sp>
      <p:pic>
        <p:nvPicPr>
          <p:cNvPr id="16" name="Image 0" descr="Equation: pc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999232"/>
            <a:ext cx="2559671" cy="393585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777240" y="3584448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</a:rPr>
              <a:t>Top-K principal components of the numeric features</a:t>
            </a:r>
            <a:endParaRPr lang="en-US" sz="1200" dirty="0"/>
          </a:p>
        </p:txBody>
      </p:sp>
      <p:sp>
        <p:nvSpPr>
          <p:cNvPr id="18" name="ext-lda"/>
          <p:cNvSpPr/>
          <p:nvPr/>
        </p:nvSpPr>
        <p:spPr>
          <a:xfrm>
            <a:off x="4251960" y="237744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480560" y="254203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LDA (supervised by deciles)</a:t>
            </a:r>
            <a:endParaRPr lang="en-US" sz="1600" dirty="0"/>
          </a:p>
        </p:txBody>
      </p:sp>
      <p:pic>
        <p:nvPicPr>
          <p:cNvPr id="20" name="Image 1" descr="Equation: lda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2999232"/>
            <a:ext cx="2781605" cy="359231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4480560" y="3584448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</a:rPr>
              <a:t>Directions that separate each day's return deciles</a:t>
            </a:r>
            <a:endParaRPr lang="en-US" sz="1200" dirty="0"/>
          </a:p>
        </p:txBody>
      </p:sp>
      <p:sp>
        <p:nvSpPr>
          <p:cNvPr id="22" name="ext-dapca"/>
          <p:cNvSpPr/>
          <p:nvPr/>
        </p:nvSpPr>
        <p:spPr>
          <a:xfrm>
            <a:off x="548640" y="429768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FCEBE3"/>
          </a:solidFill>
          <a:ln w="12700">
            <a:solidFill>
              <a:srgbClr val="FCEBE3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777240" y="446227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Decision-aware PCA (new)</a:t>
            </a:r>
            <a:endParaRPr lang="en-US" sz="1600" dirty="0"/>
          </a:p>
        </p:txBody>
      </p:sp>
      <p:pic>
        <p:nvPicPr>
          <p:cNvPr id="24" name="Image 2" descr="Equation: dapca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919472"/>
            <a:ext cx="2829154" cy="377775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777240" y="5504688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</a:rPr>
              <a:t>Start at PCA loadings; let the portfolio loss move them</a:t>
            </a:r>
            <a:endParaRPr lang="en-US" sz="1200" dirty="0"/>
          </a:p>
        </p:txBody>
      </p:sp>
      <p:sp>
        <p:nvSpPr>
          <p:cNvPr id="26" name="ext-gmm"/>
          <p:cNvSpPr/>
          <p:nvPr/>
        </p:nvSpPr>
        <p:spPr>
          <a:xfrm>
            <a:off x="4251960" y="4297680"/>
            <a:ext cx="3520440" cy="1737360"/>
          </a:xfrm>
          <a:prstGeom prst="roundRect">
            <a:avLst>
              <a:gd name="adj" fmla="val 4211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4480560" y="446227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GMM mixture of experts</a:t>
            </a:r>
            <a:endParaRPr lang="en-US" sz="1600" dirty="0"/>
          </a:p>
        </p:txBody>
      </p:sp>
      <p:pic>
        <p:nvPicPr>
          <p:cNvPr id="28" name="Image 3" descr="Equation: gmm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560" y="4919472"/>
            <a:ext cx="1925726" cy="438519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4480560" y="5504688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2514E"/>
                </a:solidFill>
              </a:rPr>
              <a:t>Separate linear rules for large and small firms</a:t>
            </a:r>
            <a:endParaRPr lang="en-US" sz="1200" dirty="0"/>
          </a:p>
        </p:txBody>
      </p:sp>
      <p:sp>
        <p:nvSpPr>
          <p:cNvPr id="30" name="insight-card"/>
          <p:cNvSpPr/>
          <p:nvPr/>
        </p:nvSpPr>
        <p:spPr>
          <a:xfrm>
            <a:off x="8092440" y="2377440"/>
            <a:ext cx="3566160" cy="3657600"/>
          </a:xfrm>
          <a:prstGeom prst="roundRect">
            <a:avLst>
              <a:gd name="adj" fmla="val 2051"/>
            </a:avLst>
          </a:prstGeom>
          <a:solidFill>
            <a:srgbClr val="E2EFF0"/>
          </a:solidFill>
          <a:ln w="12700">
            <a:solidFill>
              <a:srgbClr val="E2EFF0"/>
            </a:solidFill>
            <a:prstDash val="solid"/>
          </a:ln>
        </p:spPr>
      </p:sp>
      <p:sp>
        <p:nvSpPr>
          <p:cNvPr id="31" name="Text 25"/>
          <p:cNvSpPr txBox="1"/>
          <p:nvPr/>
        </p:nvSpPr>
        <p:spPr>
          <a:xfrm>
            <a:off x="8321040" y="254203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Key point</a:t>
            </a:r>
            <a:endParaRPr lang="en-US" sz="1600" dirty="0"/>
          </a:p>
        </p:txBody>
      </p:sp>
      <p:sp>
        <p:nvSpPr>
          <p:cNvPr id="32" name="Text 26"/>
          <p:cNvSpPr txBox="1"/>
          <p:nvPr/>
        </p:nvSpPr>
        <p:spPr>
          <a:xfrm>
            <a:off x="8321040" y="2880360"/>
            <a:ext cx="31089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For a linear model, a learned linear bottleneck adds nothing: (Wγ)ᵀx is still one linear score.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So reduction must act as a constraint. Decision-aware PCA keeps W near the PCA loadings and lets the portfolio objective move them.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2514E"/>
                </a:solidFill>
              </a:rPr>
              <a:t>Also: PLS, persistence-aware (low-turnover) components, linear and kernel SVR.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9878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9260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Results so far (2014–2023, 40 test quarters)</a:t>
            </a:r>
            <a:endParaRPr lang="en-US" sz="3200" dirty="0"/>
          </a:p>
        </p:txBody>
      </p:sp>
      <p:graphicFrame>
        <p:nvGraphicFramePr>
          <p:cNvPr id="3" name="chart-ic" descr=""/>
          <p:cNvGraphicFramePr/>
          <p:nvPr/>
        </p:nvGraphicFramePr>
        <p:xfrm>
          <a:off x="548640" y="1280160"/>
          <a:ext cx="374904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chart-sr" descr=""/>
          <p:cNvGraphicFramePr/>
          <p:nvPr/>
        </p:nvGraphicFramePr>
        <p:xfrm>
          <a:off x="4434840" y="1280160"/>
          <a:ext cx="374904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finding-card"/>
          <p:cNvSpPr/>
          <p:nvPr/>
        </p:nvSpPr>
        <p:spPr>
          <a:xfrm>
            <a:off x="8412480" y="1325880"/>
            <a:ext cx="3246120" cy="2423160"/>
          </a:xfrm>
          <a:prstGeom prst="roundRect">
            <a:avLst>
              <a:gd name="adj" fmla="val 3019"/>
            </a:avLst>
          </a:prstGeom>
          <a:solidFill>
            <a:srgbClr val="FCEBE3"/>
          </a:solidFill>
          <a:ln w="12700">
            <a:solidFill>
              <a:srgbClr val="FCEBE3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8641080" y="149047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Higher IC ≠ better portfolio</a:t>
            </a:r>
            <a:endParaRPr lang="en-US" sz="1600" dirty="0"/>
          </a:p>
        </p:txBody>
      </p:sp>
      <p:sp>
        <p:nvSpPr>
          <p:cNvPr id="7" name="Text 3"/>
          <p:cNvSpPr txBox="1"/>
          <p:nvPr/>
        </p:nvSpPr>
        <p:spPr>
          <a:xfrm>
            <a:off x="8641080" y="1828800"/>
            <a:ext cx="2834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Ridge-rank has the best rank IC (0.077), but Linear has the best long-only Sharpe (1.36): the paper's argument, in our data.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2514E"/>
                </a:solidFill>
              </a:rPr>
              <a:t>Unlike the paper, the networks do not beat Linear (NN3: 1.23).</a:t>
            </a:r>
            <a:endParaRPr lang="en-US" sz="1300" dirty="0"/>
          </a:p>
        </p:txBody>
      </p:sp>
      <p:sp>
        <p:nvSpPr>
          <p:cNvPr id="8" name="microcap-card"/>
          <p:cNvSpPr/>
          <p:nvPr/>
        </p:nvSpPr>
        <p:spPr>
          <a:xfrm>
            <a:off x="8412480" y="3931920"/>
            <a:ext cx="3246120" cy="1280160"/>
          </a:xfrm>
          <a:prstGeom prst="roundRect">
            <a:avLst>
              <a:gd name="adj" fmla="val 5714"/>
            </a:avLst>
          </a:prstGeom>
          <a:solidFill>
            <a:srgbClr val="EEF2F7"/>
          </a:solidFill>
          <a:ln w="12700">
            <a:solidFill>
              <a:srgbClr val="EEF2F7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641080" y="409651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Excluding microcaps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8641080" y="4370832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Our Linear: 22.8% a year (SR 1.03); the paper reports 28.0% (1.44)</a:t>
            </a:r>
            <a:endParaRPr lang="en-US" sz="1300" dirty="0"/>
          </a:p>
        </p:txBody>
      </p:sp>
      <p:sp>
        <p:nvSpPr>
          <p:cNvPr id="11" name="pending-box"/>
          <p:cNvSpPr/>
          <p:nvPr/>
        </p:nvSpPr>
        <p:spPr>
          <a:xfrm>
            <a:off x="548640" y="5440680"/>
            <a:ext cx="11109960" cy="731520"/>
          </a:xfrm>
          <a:prstGeom prst="roundRect">
            <a:avLst>
              <a:gd name="adj" fmla="val 7500"/>
            </a:avLst>
          </a:prstGeom>
          <a:solidFill>
            <a:srgbClr val="E2EFF0"/>
          </a:solidFill>
          <a:ln w="12700">
            <a:solidFill>
              <a:srgbClr val="E2EFF0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777240" y="544068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To be added when training finishes: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E2E versions (paper models and ours), transaction costs 0–40 bps, risk aversion, decision-aware PCA, GMM experts.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9878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cision Learning">
  <a:themeElements>
    <a:clrScheme name="Decision Learning">
      <a:dk1>
        <a:srgbClr val="1F2A44"/>
      </a:dk1>
      <a:lt1>
        <a:srgbClr val="FFFFFF"/>
      </a:lt1>
      <a:dk2>
        <a:srgbClr val="0E5E6F"/>
      </a:dk2>
      <a:lt2>
        <a:srgbClr val="EEF2F7"/>
      </a:lt2>
      <a:accent1>
        <a:srgbClr val="2A78D6"/>
      </a:accent1>
      <a:accent2>
        <a:srgbClr val="EB6834"/>
      </a:accent2>
      <a:accent3>
        <a:srgbClr val="1BAF7A"/>
      </a:accent3>
      <a:accent4>
        <a:srgbClr val="EDA100"/>
      </a:accent4>
      <a:accent5>
        <a:srgbClr val="0E5E6F"/>
      </a:accent5>
      <a:accent6>
        <a:srgbClr val="6250D6"/>
      </a:accent6>
      <a:hlink>
        <a:srgbClr val="2A78D6"/>
      </a:hlink>
      <a:folHlink>
        <a:srgbClr val="6250D6"/>
      </a:folHlink>
    </a:clrScheme>
    <a:fontScheme name="Decision Learning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Learning for the Decision</dc:title>
  <dc:subject>PptxGenJS Presentation</dc:subject>
  <dc:creator>Kumar Utkarsh</dc:creator>
  <cp:lastModifiedBy>Kumar Utkarsh</cp:lastModifiedBy>
  <cp:revision>1</cp:revision>
  <dcterms:created xsi:type="dcterms:W3CDTF">2026-10-28T17:48:42Z</dcterms:created>
  <dcterms:modified xsi:type="dcterms:W3CDTF">2026-10-28T17:48:42Z</dcterms:modified>
</cp:coreProperties>
</file>